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87" r:id="rId11"/>
    <p:sldId id="265" r:id="rId12"/>
    <p:sldId id="286" r:id="rId13"/>
    <p:sldId id="266" r:id="rId14"/>
    <p:sldId id="271" r:id="rId15"/>
    <p:sldId id="288" r:id="rId16"/>
    <p:sldId id="267" r:id="rId17"/>
    <p:sldId id="289" r:id="rId18"/>
    <p:sldId id="270" r:id="rId19"/>
    <p:sldId id="269"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2" d="100"/>
          <a:sy n="42" d="100"/>
        </p:scale>
        <p:origin x="67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CE0763-267F-4EA9-BF35-E232AE115895}" type="datetimeFigureOut">
              <a:rPr lang="en-US" smtClean="0"/>
              <a:pPr/>
              <a:t>8/9/2017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88A2F2-5632-4006-B3DF-3D520FD20FBE}" type="slidenum">
              <a:rPr lang="en-US" smtClean="0"/>
              <a:pPr/>
              <a:t>‹#›</a:t>
            </a:fld>
            <a:endParaRPr lang="en-US"/>
          </a:p>
        </p:txBody>
      </p:sp>
    </p:spTree>
    <p:extLst>
      <p:ext uri="{BB962C8B-B14F-4D97-AF65-F5344CB8AC3E}">
        <p14:creationId xmlns:p14="http://schemas.microsoft.com/office/powerpoint/2010/main" val="85830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743C09A3-E848-4FDD-BB10-42347B6444C0}" type="datetime1">
              <a:rPr lang="en-US" smtClean="0"/>
              <a:pPr/>
              <a:t>8/9/2017</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E81B8A8D-17D1-400C-B5E6-F34363AC764B}"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1C1145F-D90B-4DEE-AF02-5697A895C0D8}" type="datetime1">
              <a:rPr lang="en-US" smtClean="0"/>
              <a:pPr/>
              <a:t>8/9/2017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E81B8A8D-17D1-400C-B5E6-F34363AC764B}"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279886E2-3F08-440D-8C5E-F653380F1F90}" type="datetime1">
              <a:rPr lang="en-US" smtClean="0"/>
              <a:pPr/>
              <a:t>8/9/2017</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E81B8A8D-17D1-400C-B5E6-F34363AC764B}"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26870554-C4B7-42F4-A88D-F8FB0478FCBB}" type="datetime1">
              <a:rPr lang="en-US" smtClean="0"/>
              <a:pPr/>
              <a:t>8/9/2017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1B8A8D-17D1-400C-B5E6-F34363AC764B}"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CEDA5E5-EA27-48EF-8F88-1AFB39272840}" type="datetime1">
              <a:rPr lang="en-US" smtClean="0"/>
              <a:pPr/>
              <a:t>8/9/2017</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E81B8A8D-17D1-400C-B5E6-F34363AC764B}"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70B1ACE-32CA-4670-B12D-01C09073D4DE}" type="datetime1">
              <a:rPr lang="en-US" smtClean="0"/>
              <a:pPr/>
              <a:t>8/9/2017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E81B8A8D-17D1-400C-B5E6-F34363AC764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2BEC7989-32FB-4523-8B91-D3B8F4AC6420}" type="datetime1">
              <a:rPr lang="en-US" smtClean="0"/>
              <a:pPr/>
              <a:t>8/9/2017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E81B8A8D-17D1-400C-B5E6-F34363AC764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E81B8A8D-17D1-400C-B5E6-F34363AC764B}"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46A6CB37-8169-4A08-9A7C-2F4549F10FA8}" type="datetime1">
              <a:rPr lang="en-US" smtClean="0"/>
              <a:pPr/>
              <a:t>8/9/2017</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E81B8A8D-17D1-400C-B5E6-F34363AC764B}"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C114F773-915B-4808-9082-EA6CDE1B67D4}" type="datetime1">
              <a:rPr lang="en-US" smtClean="0"/>
              <a:pPr/>
              <a:t>8/9/2017</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CF9CC6C-8B9E-4CD3-A8FD-53CB8C712925}" type="datetime1">
              <a:rPr lang="en-US" smtClean="0"/>
              <a:pPr/>
              <a:t>8/9/2017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1B8A8D-17D1-400C-B5E6-F34363AC764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E81B8A8D-17D1-400C-B5E6-F34363AC764B}"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E8C70D0-735C-4CDF-B4DA-BC89CEBC711C}" type="datetime1">
              <a:rPr lang="en-US" smtClean="0"/>
              <a:pPr/>
              <a:t>8/9/2017</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0250F430-8B10-4F12-9E98-A5F500DC5D42}" type="datetime1">
              <a:rPr lang="en-US" smtClean="0"/>
              <a:pPr/>
              <a:t>8/9/2017</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E81B8A8D-17D1-400C-B5E6-F34363AC764B}"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lucene.apache.org/java/docs/index.html" TargetMode="External"/><Relationship Id="rId2" Type="http://schemas.openxmlformats.org/officeDocument/2006/relationships/hyperlink" Target="http://www.google.com/enterprise/search/gsa.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Faiz ul haque </a:t>
            </a:r>
            <a:r>
              <a:rPr lang="en-US" dirty="0" smtClean="0"/>
              <a:t>Zeya</a:t>
            </a:r>
            <a:r>
              <a:rPr lang="en-US" dirty="0" smtClean="0"/>
              <a:t> </a:t>
            </a:r>
            <a:endParaRPr lang="en-US" dirty="0" smtClean="0"/>
          </a:p>
          <a:p>
            <a:r>
              <a:rPr lang="en-US" dirty="0" err="1" smtClean="0"/>
              <a:t>ASSociate</a:t>
            </a:r>
            <a:r>
              <a:rPr lang="en-US" dirty="0" smtClean="0"/>
              <a:t> </a:t>
            </a:r>
            <a:r>
              <a:rPr lang="en-US" dirty="0" smtClean="0"/>
              <a:t>PROFESSOR BAHRIA University</a:t>
            </a:r>
          </a:p>
          <a:p>
            <a:r>
              <a:rPr lang="en-US" dirty="0" err="1" smtClean="0"/>
              <a:t>Ceo</a:t>
            </a:r>
            <a:r>
              <a:rPr lang="en-US" dirty="0" smtClean="0"/>
              <a:t> </a:t>
            </a:r>
            <a:r>
              <a:rPr lang="en-US" dirty="0" err="1" smtClean="0"/>
              <a:t>Transys</a:t>
            </a:r>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1</a:t>
            </a:fld>
            <a:endParaRPr lang="en-US"/>
          </a:p>
        </p:txBody>
      </p:sp>
      <p:sp>
        <p:nvSpPr>
          <p:cNvPr id="2" name="Title 1"/>
          <p:cNvSpPr>
            <a:spLocks noGrp="1"/>
          </p:cNvSpPr>
          <p:nvPr>
            <p:ph type="ctrTitle"/>
          </p:nvPr>
        </p:nvSpPr>
        <p:spPr/>
        <p:txBody>
          <a:bodyPr/>
          <a:lstStyle/>
          <a:p>
            <a:r>
              <a:rPr lang="en-US" dirty="0" smtClean="0"/>
              <a:t>Query expansion for search improvement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Agenda</a:t>
            </a:r>
            <a:endParaRPr lang="en-US"/>
          </a:p>
        </p:txBody>
      </p:sp>
      <p:sp>
        <p:nvSpPr>
          <p:cNvPr id="4" name="Slide Number Placeholder 3"/>
          <p:cNvSpPr>
            <a:spLocks noGrp="1"/>
          </p:cNvSpPr>
          <p:nvPr>
            <p:ph type="sldNum" sz="quarter" idx="12"/>
          </p:nvPr>
        </p:nvSpPr>
        <p:spPr/>
        <p:txBody>
          <a:bodyPr/>
          <a:lstStyle/>
          <a:p>
            <a:fld id="{E81B8A8D-17D1-400C-B5E6-F34363AC764B}" type="slidenum">
              <a:rPr lang="en-US" smtClean="0"/>
              <a:pPr/>
              <a:t>2</a:t>
            </a:fld>
            <a:endParaRPr lang="en-US"/>
          </a:p>
        </p:txBody>
      </p:sp>
      <p:sp>
        <p:nvSpPr>
          <p:cNvPr id="3" name="Content Placeholder 2"/>
          <p:cNvSpPr>
            <a:spLocks noGrp="1"/>
          </p:cNvSpPr>
          <p:nvPr>
            <p:ph sz="quarter" idx="1"/>
          </p:nvPr>
        </p:nvSpPr>
        <p:spPr/>
        <p:txBody>
          <a:bodyPr>
            <a:normAutofit/>
          </a:bodyPr>
          <a:lstStyle/>
          <a:p>
            <a:r>
              <a:rPr lang="en-US" dirty="0" smtClean="0"/>
              <a:t>Introduction of the problem</a:t>
            </a:r>
          </a:p>
          <a:p>
            <a:r>
              <a:rPr lang="en-US" dirty="0" smtClean="0"/>
              <a:t>Product review</a:t>
            </a:r>
          </a:p>
          <a:p>
            <a:r>
              <a:rPr lang="en-US" dirty="0" smtClean="0"/>
              <a:t>Literature review</a:t>
            </a:r>
          </a:p>
          <a:p>
            <a:r>
              <a:rPr lang="en-US" dirty="0" smtClean="0"/>
              <a:t>Our approach</a:t>
            </a:r>
          </a:p>
          <a:p>
            <a:r>
              <a:rPr lang="en-US" dirty="0" smtClean="0"/>
              <a:t>Results</a:t>
            </a:r>
          </a:p>
          <a:p>
            <a:r>
              <a:rPr lang="en-US" dirty="0" smtClean="0"/>
              <a:t>Conclusion</a:t>
            </a:r>
          </a:p>
          <a:p>
            <a:r>
              <a:rPr lang="en-US" dirty="0" smtClean="0"/>
              <a:t>Question and answer</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a:buNone/>
            </a:pPr>
            <a:endParaRPr lang="en-US"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3</a:t>
            </a:fld>
            <a:endParaRPr lang="en-US"/>
          </a:p>
        </p:txBody>
      </p:sp>
      <p:sp>
        <p:nvSpPr>
          <p:cNvPr id="3" name="Content Placeholder 2"/>
          <p:cNvSpPr>
            <a:spLocks noGrp="1"/>
          </p:cNvSpPr>
          <p:nvPr>
            <p:ph sz="quarter" idx="1"/>
          </p:nvPr>
        </p:nvSpPr>
        <p:spPr/>
        <p:txBody>
          <a:bodyPr/>
          <a:lstStyle/>
          <a:p>
            <a:r>
              <a:rPr lang="en-US" dirty="0" smtClean="0"/>
              <a:t>This research is about a novel concept which is to improve search by </a:t>
            </a:r>
            <a:r>
              <a:rPr lang="en-US" smtClean="0"/>
              <a:t>adding supplementary </a:t>
            </a:r>
            <a:r>
              <a:rPr lang="en-US" dirty="0" smtClean="0"/>
              <a:t>keywords to the original query.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Problem statement</a:t>
            </a:r>
            <a:br>
              <a:rPr lang="en-US" dirty="0" smtClean="0"/>
            </a:b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4</a:t>
            </a:fld>
            <a:endParaRPr lang="en-US"/>
          </a:p>
        </p:txBody>
      </p:sp>
      <p:sp>
        <p:nvSpPr>
          <p:cNvPr id="3" name="Content Placeholder 2"/>
          <p:cNvSpPr>
            <a:spLocks noGrp="1"/>
          </p:cNvSpPr>
          <p:nvPr>
            <p:ph sz="quarter" idx="1"/>
          </p:nvPr>
        </p:nvSpPr>
        <p:spPr/>
        <p:txBody>
          <a:bodyPr>
            <a:normAutofit/>
          </a:bodyPr>
          <a:lstStyle/>
          <a:p>
            <a:r>
              <a:rPr lang="en-US" dirty="0" smtClean="0"/>
              <a:t>The problem is called word mismatch problem</a:t>
            </a:r>
          </a:p>
          <a:p>
            <a:r>
              <a:rPr lang="en-US" dirty="0" smtClean="0"/>
              <a:t>  When the word  used by author in concept is different  from that used by the used by the user.</a:t>
            </a:r>
          </a:p>
          <a:p>
            <a:endParaRPr lang="en-US" dirty="0" smtClean="0"/>
          </a:p>
          <a:p>
            <a:r>
              <a:rPr lang="en-US" dirty="0" smtClean="0"/>
              <a:t>AI 				computational rationality</a:t>
            </a:r>
          </a:p>
          <a:p>
            <a:r>
              <a:rPr lang="en-US" dirty="0" err="1" smtClean="0"/>
              <a:t>Nano</a:t>
            </a:r>
            <a:r>
              <a:rPr lang="en-US" dirty="0" smtClean="0"/>
              <a:t>  technology 		molecular level computation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Google query expansion</a:t>
            </a: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5</a:t>
            </a:fld>
            <a:endParaRPr lang="en-US"/>
          </a:p>
        </p:txBody>
      </p:sp>
      <p:sp>
        <p:nvSpPr>
          <p:cNvPr id="3" name="Content Placeholder 2"/>
          <p:cNvSpPr>
            <a:spLocks noGrp="1"/>
          </p:cNvSpPr>
          <p:nvPr>
            <p:ph sz="quarter" idx="1"/>
          </p:nvPr>
        </p:nvSpPr>
        <p:spPr/>
        <p:txBody>
          <a:bodyPr/>
          <a:lstStyle/>
          <a:p>
            <a:r>
              <a:rPr lang="en-US" dirty="0" smtClean="0"/>
              <a:t>Stemming, acronyms, misspelling, synonyms.</a:t>
            </a:r>
          </a:p>
          <a:p>
            <a:endParaRPr lang="en-US" dirty="0" smtClean="0"/>
          </a:p>
          <a:p>
            <a:r>
              <a:rPr lang="en-US" dirty="0" err="1" smtClean="0"/>
              <a:t>Aristot</a:t>
            </a:r>
            <a:r>
              <a:rPr lang="en-US" dirty="0" smtClean="0"/>
              <a:t> to </a:t>
            </a:r>
            <a:r>
              <a:rPr lang="en-US" dirty="0" err="1" smtClean="0"/>
              <a:t>aristotle</a:t>
            </a:r>
            <a:r>
              <a:rPr lang="en-US" dirty="0" smtClean="0"/>
              <a:t>.</a:t>
            </a:r>
          </a:p>
          <a:p>
            <a:endParaRPr lang="en-US" dirty="0" smtClean="0"/>
          </a:p>
          <a:p>
            <a:r>
              <a:rPr lang="en-US" dirty="0" smtClean="0"/>
              <a:t>Internet </a:t>
            </a:r>
            <a:r>
              <a:rPr lang="en-US" dirty="0" err="1" smtClean="0"/>
              <a:t>connexion</a:t>
            </a:r>
            <a:r>
              <a:rPr lang="en-US" dirty="0" smtClean="0"/>
              <a:t> to internet connection</a:t>
            </a:r>
          </a:p>
          <a:p>
            <a:r>
              <a:rPr lang="en-US" dirty="0" smtClean="0"/>
              <a:t>Suggestion for </a:t>
            </a:r>
            <a:r>
              <a:rPr lang="en-US" dirty="0" err="1" smtClean="0"/>
              <a:t>autocompletion</a:t>
            </a:r>
            <a:r>
              <a:rPr lang="en-US" dirty="0" smtClean="0"/>
              <a: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overview</a:t>
            </a:r>
            <a:endParaRPr lang="en-US" dirty="0"/>
          </a:p>
        </p:txBody>
      </p:sp>
      <p:sp>
        <p:nvSpPr>
          <p:cNvPr id="5" name="Slide Number Placeholder 4"/>
          <p:cNvSpPr>
            <a:spLocks noGrp="1"/>
          </p:cNvSpPr>
          <p:nvPr>
            <p:ph type="sldNum" sz="quarter" idx="12"/>
          </p:nvPr>
        </p:nvSpPr>
        <p:spPr/>
        <p:txBody>
          <a:bodyPr/>
          <a:lstStyle/>
          <a:p>
            <a:fld id="{E81B8A8D-17D1-400C-B5E6-F34363AC764B}" type="slidenum">
              <a:rPr lang="en-US" smtClean="0"/>
              <a:pPr/>
              <a:t>6</a:t>
            </a:fld>
            <a:endParaRPr lang="en-US"/>
          </a:p>
        </p:txBody>
      </p:sp>
      <p:sp>
        <p:nvSpPr>
          <p:cNvPr id="3" name="Content Placeholder 2"/>
          <p:cNvSpPr>
            <a:spLocks noGrp="1"/>
          </p:cNvSpPr>
          <p:nvPr>
            <p:ph sz="quarter" idx="1"/>
          </p:nvPr>
        </p:nvSpPr>
        <p:spPr/>
        <p:txBody>
          <a:bodyPr/>
          <a:lstStyle/>
          <a:p>
            <a:r>
              <a:rPr lang="en-US" dirty="0" smtClean="0"/>
              <a:t>Google search appliance.</a:t>
            </a:r>
          </a:p>
          <a:p>
            <a:r>
              <a:rPr lang="en-US" dirty="0" smtClean="0"/>
              <a:t>Google search appliance  is the box shipped by Google that can be used for intranet and website search of the intranet.</a:t>
            </a:r>
          </a:p>
          <a:p>
            <a:endParaRPr lang="en-US" dirty="0" smtClean="0"/>
          </a:p>
          <a:p>
            <a:r>
              <a:rPr lang="en-US" dirty="0" smtClean="0"/>
              <a:t>Query expansion synonyms file.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Lucene</a:t>
            </a:r>
            <a:endParaRPr lang="en-US" dirty="0"/>
          </a:p>
        </p:txBody>
      </p:sp>
      <p:sp>
        <p:nvSpPr>
          <p:cNvPr id="5" name="Slide Number Placeholder 4"/>
          <p:cNvSpPr>
            <a:spLocks noGrp="1"/>
          </p:cNvSpPr>
          <p:nvPr>
            <p:ph type="sldNum" sz="quarter" idx="12"/>
          </p:nvPr>
        </p:nvSpPr>
        <p:spPr/>
        <p:txBody>
          <a:bodyPr/>
          <a:lstStyle/>
          <a:p>
            <a:fld id="{E81B8A8D-17D1-400C-B5E6-F34363AC764B}" type="slidenum">
              <a:rPr lang="en-US" smtClean="0"/>
              <a:pPr/>
              <a:t>7</a:t>
            </a:fld>
            <a:endParaRPr lang="en-US"/>
          </a:p>
        </p:txBody>
      </p:sp>
      <p:pic>
        <p:nvPicPr>
          <p:cNvPr id="4" name="Content Placeholder 3"/>
          <p:cNvPicPr>
            <a:picLocks noGrp="1"/>
          </p:cNvPicPr>
          <p:nvPr>
            <p:ph sz="quarter" idx="1"/>
          </p:nvPr>
        </p:nvPicPr>
        <p:blipFill>
          <a:blip r:embed="rId2" cstate="print"/>
          <a:stretch>
            <a:fillRect/>
          </a:stretch>
        </p:blipFill>
        <p:spPr bwMode="auto">
          <a:xfrm>
            <a:off x="1505744" y="1527175"/>
            <a:ext cx="6096000" cy="45720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dirty="0" smtClean="0"/>
              <a:t>Literature review</a:t>
            </a: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8</a:t>
            </a:fld>
            <a:endParaRPr lang="en-US"/>
          </a:p>
        </p:txBody>
      </p:sp>
      <p:sp>
        <p:nvSpPr>
          <p:cNvPr id="3" name="Content Placeholder 2"/>
          <p:cNvSpPr>
            <a:spLocks noGrp="1"/>
          </p:cNvSpPr>
          <p:nvPr>
            <p:ph sz="quarter" idx="1"/>
          </p:nvPr>
        </p:nvSpPr>
        <p:spPr/>
        <p:txBody>
          <a:bodyPr>
            <a:normAutofit/>
          </a:bodyPr>
          <a:lstStyle/>
          <a:p>
            <a:r>
              <a:rPr lang="en-US" dirty="0" err="1" smtClean="0"/>
              <a:t>Bodo</a:t>
            </a:r>
            <a:r>
              <a:rPr lang="en-US" dirty="0" smtClean="0"/>
              <a:t> </a:t>
            </a:r>
            <a:r>
              <a:rPr lang="en-US" dirty="0" err="1" smtClean="0"/>
              <a:t>Billerbeck</a:t>
            </a:r>
            <a:endParaRPr lang="en-US" dirty="0" smtClean="0"/>
          </a:p>
          <a:p>
            <a:pPr lvl="1"/>
            <a:r>
              <a:rPr lang="en-US" dirty="0" smtClean="0"/>
              <a:t>Approach used by </a:t>
            </a:r>
            <a:r>
              <a:rPr lang="en-US" dirty="0" err="1" smtClean="0"/>
              <a:t>Billerbeck</a:t>
            </a:r>
            <a:r>
              <a:rPr lang="en-US" dirty="0" smtClean="0"/>
              <a:t> is to use past queries from logs to find the keywords.</a:t>
            </a:r>
          </a:p>
          <a:p>
            <a:r>
              <a:rPr lang="en-US" dirty="0" smtClean="0"/>
              <a:t>Chou</a:t>
            </a:r>
          </a:p>
          <a:p>
            <a:pPr lvl="1"/>
            <a:r>
              <a:rPr lang="en-US" dirty="0" smtClean="0"/>
              <a:t>	Chou assumes that the term will be informative or is more likely to be the candidate of query expansion if it appears in pseudo relevant document set more often.</a:t>
            </a:r>
          </a:p>
          <a:p>
            <a:pPr lvl="1"/>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Chou’s approach</a:t>
            </a: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9</a:t>
            </a:fld>
            <a:endParaRPr lang="en-US"/>
          </a:p>
        </p:txBody>
      </p:sp>
      <p:sp>
        <p:nvSpPr>
          <p:cNvPr id="3" name="Content Placeholder 2"/>
          <p:cNvSpPr>
            <a:spLocks noGrp="1"/>
          </p:cNvSpPr>
          <p:nvPr>
            <p:ph sz="quarter" idx="1"/>
          </p:nvPr>
        </p:nvSpPr>
        <p:spPr/>
        <p:txBody>
          <a:bodyPr/>
          <a:lstStyle/>
          <a:p>
            <a:r>
              <a:rPr lang="en-US" dirty="0" smtClean="0"/>
              <a:t>First pass is to get documents from query and uses them to find expansion term</a:t>
            </a:r>
          </a:p>
          <a:p>
            <a:r>
              <a:rPr lang="en-US" dirty="0" smtClean="0"/>
              <a:t>This approach is Local analysis.</a:t>
            </a:r>
          </a:p>
          <a:p>
            <a:pPr>
              <a:buNone/>
            </a:pPr>
            <a:endParaRPr lang="en-US" dirty="0" smtClean="0"/>
          </a:p>
          <a:p>
            <a:pPr>
              <a:buNone/>
            </a:pPr>
            <a:r>
              <a:rPr lang="en-US" dirty="0" smtClean="0"/>
              <a:t> Another approach in global analysis which uses whole corpus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10</a:t>
            </a:fld>
            <a:endParaRPr lang="en-US"/>
          </a:p>
        </p:txBody>
      </p:sp>
      <p:sp>
        <p:nvSpPr>
          <p:cNvPr id="4" name="Content Placeholder 3"/>
          <p:cNvSpPr>
            <a:spLocks noGrp="1"/>
          </p:cNvSpPr>
          <p:nvPr>
            <p:ph sz="quarter" idx="1"/>
          </p:nvPr>
        </p:nvSpPr>
        <p:spPr/>
        <p:txBody>
          <a:bodyPr/>
          <a:lstStyle/>
          <a:p>
            <a:r>
              <a:rPr lang="en-US" sz="2400" dirty="0" err="1" smtClean="0"/>
              <a:t>prob_doc</a:t>
            </a:r>
            <a:r>
              <a:rPr lang="en-US" sz="2400" dirty="0" smtClean="0"/>
              <a:t>[</a:t>
            </a:r>
            <a:r>
              <a:rPr lang="en-US" sz="2400" dirty="0" err="1" smtClean="0"/>
              <a:t>doc,term</a:t>
            </a:r>
            <a:r>
              <a:rPr lang="en-US" sz="2400" dirty="0" smtClean="0"/>
              <a:t>] = count of term / </a:t>
            </a:r>
            <a:r>
              <a:rPr lang="en-US" sz="2400" dirty="0" err="1" smtClean="0"/>
              <a:t>count_per_doc</a:t>
            </a:r>
            <a:r>
              <a:rPr lang="en-US" sz="2400" dirty="0" smtClean="0"/>
              <a:t>[doc];</a:t>
            </a:r>
          </a:p>
          <a:p>
            <a:r>
              <a:rPr lang="en-US" sz="2400" dirty="0" err="1" smtClean="0"/>
              <a:t>prob_total</a:t>
            </a:r>
            <a:r>
              <a:rPr lang="en-US" sz="2400" dirty="0" smtClean="0"/>
              <a:t>[</a:t>
            </a:r>
            <a:r>
              <a:rPr lang="en-US" sz="2400" dirty="0" err="1" smtClean="0"/>
              <a:t>doc,term</a:t>
            </a:r>
            <a:r>
              <a:rPr lang="en-US" sz="2400" dirty="0" smtClean="0"/>
              <a:t>] = count of term / </a:t>
            </a:r>
            <a:r>
              <a:rPr lang="en-US" sz="2400" dirty="0" err="1" smtClean="0"/>
              <a:t>total_corpus</a:t>
            </a:r>
            <a:r>
              <a:rPr lang="en-US" sz="2400" dirty="0" smtClean="0"/>
              <a:t>;</a:t>
            </a:r>
          </a:p>
          <a:p>
            <a:r>
              <a:rPr lang="en-US" sz="2400" dirty="0" smtClean="0"/>
              <a:t>                </a:t>
            </a:r>
          </a:p>
          <a:p>
            <a:r>
              <a:rPr lang="en-US" dirty="0" err="1" smtClean="0"/>
              <a:t>weightofterm</a:t>
            </a:r>
            <a:r>
              <a:rPr lang="en-US" dirty="0" smtClean="0"/>
              <a:t>[</a:t>
            </a:r>
            <a:r>
              <a:rPr lang="en-US" dirty="0" err="1" smtClean="0"/>
              <a:t>doc,term</a:t>
            </a:r>
            <a:r>
              <a:rPr lang="en-US" dirty="0" smtClean="0"/>
              <a:t>]= </a:t>
            </a:r>
            <a:r>
              <a:rPr lang="en-US" dirty="0" err="1" smtClean="0"/>
              <a:t>prob_doc</a:t>
            </a:r>
            <a:r>
              <a:rPr lang="en-US" dirty="0" smtClean="0"/>
              <a:t>[</a:t>
            </a:r>
            <a:r>
              <a:rPr lang="en-US" dirty="0" err="1" smtClean="0"/>
              <a:t>doc,term</a:t>
            </a:r>
            <a:r>
              <a:rPr lang="en-US" dirty="0" smtClean="0"/>
              <a:t>]*</a:t>
            </a:r>
            <a:r>
              <a:rPr lang="en-US" dirty="0" err="1" smtClean="0"/>
              <a:t>Math.Log</a:t>
            </a:r>
            <a:r>
              <a:rPr lang="en-US" dirty="0" smtClean="0"/>
              <a:t>(</a:t>
            </a:r>
            <a:r>
              <a:rPr lang="en-US" dirty="0" err="1" smtClean="0"/>
              <a:t>prob_doc</a:t>
            </a:r>
            <a:r>
              <a:rPr lang="en-US" dirty="0" smtClean="0"/>
              <a:t>[</a:t>
            </a:r>
            <a:r>
              <a:rPr lang="en-US" dirty="0" err="1" smtClean="0"/>
              <a:t>doc,term</a:t>
            </a:r>
            <a:r>
              <a:rPr lang="en-US" dirty="0" smtClean="0"/>
              <a:t>]/</a:t>
            </a:r>
            <a:r>
              <a:rPr lang="en-US" dirty="0" err="1" smtClean="0"/>
              <a:t>prob_total</a:t>
            </a:r>
            <a:r>
              <a:rPr lang="en-US" dirty="0" smtClean="0"/>
              <a:t>[doc,term1])/</a:t>
            </a:r>
            <a:r>
              <a:rPr lang="en-US" dirty="0" err="1" smtClean="0"/>
              <a:t>Math.Log</a:t>
            </a:r>
            <a:r>
              <a:rPr lang="en-US" dirty="0" smtClean="0"/>
              <a:t>(2);</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approach</a:t>
            </a: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11</a:t>
            </a:fld>
            <a:endParaRPr lang="en-US"/>
          </a:p>
        </p:txBody>
      </p:sp>
      <p:sp>
        <p:nvSpPr>
          <p:cNvPr id="3" name="Content Placeholder 2"/>
          <p:cNvSpPr>
            <a:spLocks noGrp="1"/>
          </p:cNvSpPr>
          <p:nvPr>
            <p:ph sz="quarter" idx="1"/>
          </p:nvPr>
        </p:nvSpPr>
        <p:spPr/>
        <p:txBody>
          <a:bodyPr>
            <a:normAutofit lnSpcReduction="10000"/>
          </a:bodyPr>
          <a:lstStyle/>
          <a:p>
            <a:r>
              <a:rPr lang="en-US" dirty="0" smtClean="0"/>
              <a:t> Local analysis based search.</a:t>
            </a:r>
            <a:br>
              <a:rPr lang="en-US" dirty="0" smtClean="0"/>
            </a:br>
            <a:r>
              <a:rPr lang="en-US" dirty="0" smtClean="0"/>
              <a:t>Retrieval of  pseudo relevant documents.</a:t>
            </a:r>
          </a:p>
          <a:p>
            <a:r>
              <a:rPr lang="en-US" dirty="0" smtClean="0"/>
              <a:t>Calculation of probabilities.</a:t>
            </a:r>
          </a:p>
          <a:p>
            <a:r>
              <a:rPr lang="en-US" dirty="0" smtClean="0"/>
              <a:t>Selection of expansion terms from </a:t>
            </a:r>
          </a:p>
          <a:p>
            <a:pPr lvl="0"/>
            <a:r>
              <a:rPr lang="en-US" dirty="0" smtClean="0"/>
              <a:t>Title or  Description</a:t>
            </a:r>
          </a:p>
          <a:p>
            <a:r>
              <a:rPr lang="en-US" dirty="0" smtClean="0"/>
              <a:t>Selection of </a:t>
            </a:r>
            <a:r>
              <a:rPr lang="en-US" dirty="0" err="1" smtClean="0"/>
              <a:t>synsets</a:t>
            </a:r>
            <a:r>
              <a:rPr lang="en-US" dirty="0" smtClean="0"/>
              <a:t> from  </a:t>
            </a:r>
            <a:r>
              <a:rPr lang="en-US" dirty="0" err="1" smtClean="0"/>
              <a:t>Wordnet</a:t>
            </a:r>
            <a:endParaRPr lang="en-US" dirty="0" smtClean="0"/>
          </a:p>
          <a:p>
            <a:r>
              <a:rPr lang="en-US" dirty="0" smtClean="0"/>
              <a:t>Selection of terms from history</a:t>
            </a:r>
          </a:p>
          <a:p>
            <a:r>
              <a:rPr lang="en-US" dirty="0" smtClean="0"/>
              <a:t>Combination of three to get expanded query</a:t>
            </a:r>
          </a:p>
          <a:p>
            <a:r>
              <a:rPr lang="en-US" dirty="0" smtClean="0"/>
              <a:t>   </a:t>
            </a:r>
          </a:p>
          <a:p>
            <a:r>
              <a:rPr lang="en-US" b="1" dirty="0" smtClean="0"/>
              <a:t>FLOW CHART OF THE PROCESS</a:t>
            </a:r>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Experiment details</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12</a:t>
            </a:fld>
            <a:endParaRPr lang="en-US"/>
          </a:p>
        </p:txBody>
      </p:sp>
      <p:sp>
        <p:nvSpPr>
          <p:cNvPr id="4" name="Content Placeholder 3"/>
          <p:cNvSpPr>
            <a:spLocks noGrp="1"/>
          </p:cNvSpPr>
          <p:nvPr>
            <p:ph sz="quarter" idx="1"/>
          </p:nvPr>
        </p:nvSpPr>
        <p:spPr>
          <a:xfrm>
            <a:off x="301752" y="1371600"/>
            <a:ext cx="8503920" cy="4572000"/>
          </a:xfrm>
        </p:spPr>
        <p:txBody>
          <a:bodyPr/>
          <a:lstStyle/>
          <a:p>
            <a:r>
              <a:rPr lang="en-US" dirty="0" smtClean="0"/>
              <a:t>Experiments with description and title were conducted .</a:t>
            </a:r>
          </a:p>
          <a:p>
            <a:r>
              <a:rPr lang="en-US" dirty="0" err="1" smtClean="0"/>
              <a:t>sum_weight</a:t>
            </a:r>
            <a:r>
              <a:rPr lang="en-US" dirty="0" smtClean="0"/>
              <a:t> =  factor * </a:t>
            </a:r>
            <a:r>
              <a:rPr lang="en-US" dirty="0" err="1" smtClean="0"/>
              <a:t>sum_weight</a:t>
            </a:r>
            <a:r>
              <a:rPr lang="en-US" dirty="0" smtClean="0"/>
              <a:t> / </a:t>
            </a:r>
            <a:r>
              <a:rPr lang="en-US" dirty="0" err="1" smtClean="0"/>
              <a:t>countofterms</a:t>
            </a:r>
            <a:r>
              <a:rPr lang="en-US" dirty="0" smtClean="0"/>
              <a:t>;</a:t>
            </a:r>
          </a:p>
          <a:p>
            <a:r>
              <a:rPr lang="en-US" dirty="0" smtClean="0"/>
              <a:t>Experiments with different factors.</a:t>
            </a:r>
          </a:p>
          <a:p>
            <a:r>
              <a:rPr lang="en-US" dirty="0" smtClean="0"/>
              <a:t> if (</a:t>
            </a:r>
            <a:r>
              <a:rPr lang="en-US" dirty="0" err="1" smtClean="0"/>
              <a:t>weightofterm</a:t>
            </a:r>
            <a:r>
              <a:rPr lang="en-US" dirty="0" smtClean="0"/>
              <a:t>[</a:t>
            </a:r>
            <a:r>
              <a:rPr lang="en-US" dirty="0" err="1" smtClean="0"/>
              <a:t>doc,term</a:t>
            </a:r>
            <a:r>
              <a:rPr lang="en-US" dirty="0" smtClean="0"/>
              <a:t>] &gt; </a:t>
            </a:r>
            <a:r>
              <a:rPr lang="en-US" dirty="0" err="1" smtClean="0"/>
              <a:t>sum_weight</a:t>
            </a:r>
            <a:r>
              <a:rPr lang="en-US" dirty="0" smtClean="0"/>
              <a:t>)</a:t>
            </a:r>
          </a:p>
          <a:p>
            <a:r>
              <a:rPr lang="en-US" dirty="0" smtClean="0"/>
              <a:t>                            </a:t>
            </a:r>
            <a:r>
              <a:rPr lang="en-US" dirty="0" err="1" smtClean="0"/>
              <a:t>query_terms</a:t>
            </a:r>
            <a:r>
              <a:rPr lang="en-US" dirty="0" smtClean="0"/>
              <a:t> = </a:t>
            </a:r>
            <a:r>
              <a:rPr lang="en-US" dirty="0" err="1" smtClean="0"/>
              <a:t>query_terms</a:t>
            </a:r>
            <a:r>
              <a:rPr lang="en-US" dirty="0" smtClean="0"/>
              <a:t> + "  " + term[</a:t>
            </a:r>
            <a:r>
              <a:rPr lang="en-US" dirty="0" err="1" smtClean="0"/>
              <a:t>doc,term</a:t>
            </a:r>
            <a:r>
              <a:rPr lang="en-US" dirty="0" smtClean="0"/>
              <a: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p:sp>
        <p:nvSpPr>
          <p:cNvPr id="5" name="Slide Number Placeholder 4"/>
          <p:cNvSpPr>
            <a:spLocks noGrp="1"/>
          </p:cNvSpPr>
          <p:nvPr>
            <p:ph type="sldNum" sz="quarter" idx="12"/>
          </p:nvPr>
        </p:nvSpPr>
        <p:spPr/>
        <p:txBody>
          <a:bodyPr/>
          <a:lstStyle/>
          <a:p>
            <a:fld id="{E81B8A8D-17D1-400C-B5E6-F34363AC764B}" type="slidenum">
              <a:rPr lang="en-US" smtClean="0"/>
              <a:pPr/>
              <a:t>13</a:t>
            </a:fld>
            <a:endParaRPr lang="en-US"/>
          </a:p>
        </p:txBody>
      </p:sp>
      <p:pic>
        <p:nvPicPr>
          <p:cNvPr id="4" name="Content Placeholder 3"/>
          <p:cNvPicPr>
            <a:picLocks noGrp="1"/>
          </p:cNvPicPr>
          <p:nvPr>
            <p:ph sz="quarter" idx="1"/>
          </p:nvPr>
        </p:nvPicPr>
        <p:blipFill>
          <a:blip r:embed="rId2" cstate="print"/>
          <a:stretch>
            <a:fillRect/>
          </a:stretch>
        </p:blipFill>
        <p:spPr bwMode="auto">
          <a:xfrm>
            <a:off x="1505744" y="1527175"/>
            <a:ext cx="6096000" cy="4572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14</a:t>
            </a:fld>
            <a:endParaRPr lang="en-US"/>
          </a:p>
        </p:txBody>
      </p:sp>
      <p:sp>
        <p:nvSpPr>
          <p:cNvPr id="4" name="Content Placeholder 3"/>
          <p:cNvSpPr>
            <a:spLocks noGrp="1"/>
          </p:cNvSpPr>
          <p:nvPr>
            <p:ph sz="quarter" idx="1"/>
          </p:nvPr>
        </p:nvSpPr>
        <p:spPr>
          <a:xfrm>
            <a:off x="301752" y="1600200"/>
            <a:ext cx="8503920" cy="4572000"/>
          </a:xfrm>
        </p:spPr>
        <p:txBody>
          <a:bodyPr/>
          <a:lstStyle/>
          <a:p>
            <a:r>
              <a:rPr lang="en-US" dirty="0" smtClean="0"/>
              <a:t>Few terms of experiment</a:t>
            </a:r>
          </a:p>
          <a:p>
            <a:endParaRPr lang="en-US" dirty="0" smtClean="0"/>
          </a:p>
          <a:p>
            <a:r>
              <a:rPr lang="en-US" dirty="0" smtClean="0"/>
              <a:t>SZABIST</a:t>
            </a:r>
          </a:p>
          <a:p>
            <a:r>
              <a:rPr lang="en-US" dirty="0" smtClean="0"/>
              <a:t>Faiz </a:t>
            </a:r>
            <a:r>
              <a:rPr lang="en-US" dirty="0" err="1" smtClean="0"/>
              <a:t>ul</a:t>
            </a:r>
            <a:r>
              <a:rPr lang="en-US" dirty="0" smtClean="0"/>
              <a:t> </a:t>
            </a:r>
            <a:r>
              <a:rPr lang="en-US" dirty="0" err="1" smtClean="0"/>
              <a:t>haque</a:t>
            </a:r>
            <a:r>
              <a:rPr lang="en-US" dirty="0" smtClean="0"/>
              <a:t> Zeya</a:t>
            </a:r>
          </a:p>
          <a:p>
            <a:r>
              <a:rPr lang="en-US" dirty="0" smtClean="0"/>
              <a:t>Information technology</a:t>
            </a:r>
          </a:p>
          <a:p>
            <a:r>
              <a:rPr lang="en-US" dirty="0" smtClean="0"/>
              <a:t>Computer science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Results</a:t>
            </a: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15</a:t>
            </a:fld>
            <a:endParaRPr lang="en-US"/>
          </a:p>
        </p:txBody>
      </p:sp>
      <p:sp>
        <p:nvSpPr>
          <p:cNvPr id="3" name="Content Placeholder 2"/>
          <p:cNvSpPr>
            <a:spLocks noGrp="1"/>
          </p:cNvSpPr>
          <p:nvPr>
            <p:ph sz="quarter" idx="1"/>
          </p:nvPr>
        </p:nvSpPr>
        <p:spPr/>
        <p:txBody>
          <a:bodyPr>
            <a:normAutofit/>
          </a:bodyPr>
          <a:lstStyle/>
          <a:p>
            <a:r>
              <a:rPr lang="en-US" dirty="0" smtClean="0"/>
              <a:t>Chou with history gives better result.</a:t>
            </a:r>
          </a:p>
          <a:p>
            <a:r>
              <a:rPr lang="en-US" dirty="0" smtClean="0"/>
              <a:t>SZABIST first and then Bhutto returns  </a:t>
            </a:r>
            <a:r>
              <a:rPr lang="en-US" dirty="0" err="1" smtClean="0"/>
              <a:t>Szabist</a:t>
            </a:r>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16</a:t>
            </a:fld>
            <a:endParaRPr lang="en-US"/>
          </a:p>
        </p:txBody>
      </p:sp>
      <p:sp>
        <p:nvSpPr>
          <p:cNvPr id="3" name="Content Placeholder 2"/>
          <p:cNvSpPr>
            <a:spLocks noGrp="1"/>
          </p:cNvSpPr>
          <p:nvPr>
            <p:ph sz="quarter" idx="1"/>
          </p:nvPr>
        </p:nvSpPr>
        <p:spPr/>
        <p:txBody>
          <a:bodyPr>
            <a:normAutofit fontScale="70000" lnSpcReduction="20000"/>
          </a:bodyPr>
          <a:lstStyle/>
          <a:p>
            <a:r>
              <a:rPr lang="en-US" dirty="0" smtClean="0"/>
              <a:t>There are three items needs consideration and these are:</a:t>
            </a:r>
          </a:p>
          <a:p>
            <a:pPr lvl="0"/>
            <a:r>
              <a:rPr lang="en-US" dirty="0" smtClean="0"/>
              <a:t>The wrights are adjusted for the query. Chou also experimented with many factors and  discussed all of them in the result. Their precision is given for many values of factor. This research found out that value of factor should be selected differently for different number of elements of query and this should be learnt from large data sets and is proposed as future work.</a:t>
            </a:r>
          </a:p>
          <a:p>
            <a:r>
              <a:rPr lang="en-US" dirty="0" smtClean="0"/>
              <a:t> </a:t>
            </a:r>
          </a:p>
          <a:p>
            <a:pPr lvl="0"/>
            <a:r>
              <a:rPr lang="en-US" dirty="0" smtClean="0"/>
              <a:t>The ratio with and without log is selected  and experimented and it is found out that with ratio the terms are not getting much weight age than required and without ratio more terms are coming in result.</a:t>
            </a:r>
          </a:p>
          <a:p>
            <a:r>
              <a:rPr lang="en-US" dirty="0" smtClean="0"/>
              <a:t> </a:t>
            </a:r>
          </a:p>
          <a:p>
            <a:pPr lvl="0"/>
            <a:r>
              <a:rPr lang="en-US" dirty="0" smtClean="0"/>
              <a:t>The good functions for similarity measurements are required and are proposed as future work.</a:t>
            </a:r>
          </a:p>
          <a:p>
            <a:r>
              <a:rPr lang="en-US" dirty="0" smtClean="0"/>
              <a:t> </a:t>
            </a:r>
          </a:p>
          <a:p>
            <a:pPr lvl="0"/>
            <a:r>
              <a:rPr lang="en-US" dirty="0" smtClean="0"/>
              <a:t>Software agent, human computer interaction based approach with interaction Is suggested to be used in this research.</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Possible applications</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17</a:t>
            </a:fld>
            <a:endParaRPr lang="en-US"/>
          </a:p>
        </p:txBody>
      </p:sp>
      <p:sp>
        <p:nvSpPr>
          <p:cNvPr id="4" name="Content Placeholder 3"/>
          <p:cNvSpPr>
            <a:spLocks noGrp="1"/>
          </p:cNvSpPr>
          <p:nvPr>
            <p:ph sz="quarter" idx="1"/>
          </p:nvPr>
        </p:nvSpPr>
        <p:spPr/>
        <p:txBody>
          <a:bodyPr/>
          <a:lstStyle/>
          <a:p>
            <a:r>
              <a:rPr lang="en-US" dirty="0" smtClean="0"/>
              <a:t>Context based searching while writing a document</a:t>
            </a:r>
          </a:p>
          <a:p>
            <a:r>
              <a:rPr lang="en-US" dirty="0" smtClean="0"/>
              <a:t>Software agents with user modeling.</a:t>
            </a:r>
          </a:p>
          <a:p>
            <a:r>
              <a:rPr lang="en-US" dirty="0" smtClean="0"/>
              <a:t>Proactive search</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18</a:t>
            </a:fld>
            <a:endParaRPr lang="en-US"/>
          </a:p>
        </p:txBody>
      </p:sp>
      <p:sp>
        <p:nvSpPr>
          <p:cNvPr id="4" name="Content Placeholder 3"/>
          <p:cNvSpPr>
            <a:spLocks noGrp="1"/>
          </p:cNvSpPr>
          <p:nvPr>
            <p:ph sz="quarter" idx="1"/>
          </p:nvPr>
        </p:nvSpPr>
        <p:spPr/>
        <p:txBody>
          <a:bodyPr>
            <a:normAutofit fontScale="55000" lnSpcReduction="20000"/>
          </a:bodyPr>
          <a:lstStyle/>
          <a:p>
            <a:r>
              <a:rPr lang="en-US" dirty="0" smtClean="0"/>
              <a:t>[1] </a:t>
            </a:r>
            <a:r>
              <a:rPr lang="en-US" dirty="0" err="1" smtClean="0"/>
              <a:t>Bodo</a:t>
            </a:r>
            <a:r>
              <a:rPr lang="en-US" dirty="0" smtClean="0"/>
              <a:t> </a:t>
            </a:r>
            <a:r>
              <a:rPr lang="en-US" dirty="0" err="1" smtClean="0"/>
              <a:t>Billerbeck</a:t>
            </a:r>
            <a:r>
              <a:rPr lang="en-US" dirty="0" smtClean="0"/>
              <a:t> and Justin </a:t>
            </a:r>
            <a:r>
              <a:rPr lang="en-US" dirty="0" err="1" smtClean="0"/>
              <a:t>Zobel</a:t>
            </a:r>
            <a:r>
              <a:rPr lang="en-US" dirty="0" smtClean="0"/>
              <a:t>. Techniques for Efficient query expansion.</a:t>
            </a:r>
          </a:p>
          <a:p>
            <a:r>
              <a:rPr lang="en-US" dirty="0" smtClean="0"/>
              <a:t>[2]         Robertson, S.E., </a:t>
            </a:r>
            <a:r>
              <a:rPr lang="en-US" dirty="0" err="1" smtClean="0"/>
              <a:t>Spärck</a:t>
            </a:r>
            <a:r>
              <a:rPr lang="en-US" dirty="0" smtClean="0"/>
              <a:t> Jones, K. (1976), "Relevance weighting of search terms", </a:t>
            </a:r>
            <a:r>
              <a:rPr lang="en-US" i="1" dirty="0" smtClean="0"/>
              <a:t>Journal of the American Society for Information Science</a:t>
            </a:r>
            <a:r>
              <a:rPr lang="en-US" dirty="0" smtClean="0"/>
              <a:t>, Vol. 27 No.3, pp.129-46.</a:t>
            </a:r>
          </a:p>
          <a:p>
            <a:r>
              <a:rPr lang="en-US" dirty="0" smtClean="0"/>
              <a:t>[3]  </a:t>
            </a:r>
            <a:r>
              <a:rPr lang="en-US" dirty="0" err="1" smtClean="0"/>
              <a:t>Rocchio</a:t>
            </a:r>
            <a:r>
              <a:rPr lang="en-US" dirty="0" smtClean="0"/>
              <a:t>, J. (1971), Relevance feedback in information retrieval, in Salton, G. (</a:t>
            </a:r>
            <a:r>
              <a:rPr lang="en-US" dirty="0" err="1" smtClean="0"/>
              <a:t>Eds</a:t>
            </a:r>
            <a:r>
              <a:rPr lang="en-US" dirty="0" smtClean="0"/>
              <a:t>),</a:t>
            </a:r>
            <a:r>
              <a:rPr lang="en-US" i="1" dirty="0" smtClean="0"/>
              <a:t>The SMART Retrieval System – Experiments in Automatic Document Processing</a:t>
            </a:r>
            <a:r>
              <a:rPr lang="en-US" dirty="0" smtClean="0"/>
              <a:t>, Prentice-Hall, Englewood Cliffs, NJ, pp.313-23.\ </a:t>
            </a:r>
          </a:p>
          <a:p>
            <a:r>
              <a:rPr lang="en-US" dirty="0" smtClean="0"/>
              <a:t>[4]  </a:t>
            </a:r>
            <a:r>
              <a:rPr lang="en-US" dirty="0" err="1" smtClean="0"/>
              <a:t>Shihchiech</a:t>
            </a:r>
            <a:r>
              <a:rPr lang="en-US" dirty="0" smtClean="0"/>
              <a:t> Chou and </a:t>
            </a:r>
            <a:r>
              <a:rPr lang="en-US" dirty="0" err="1" smtClean="0"/>
              <a:t>Chinyi</a:t>
            </a:r>
            <a:r>
              <a:rPr lang="en-US" dirty="0" smtClean="0"/>
              <a:t> Cheng. A ranking algorithm for query expansion based on the terms ‘s appearing based on the term’s appearing in probability in the single document. Online Information Review, </a:t>
            </a:r>
            <a:r>
              <a:rPr lang="en-US" dirty="0" err="1" smtClean="0"/>
              <a:t>Vol</a:t>
            </a:r>
            <a:r>
              <a:rPr lang="en-US" dirty="0" smtClean="0"/>
              <a:t> 35. No2. 2011.</a:t>
            </a:r>
          </a:p>
          <a:p>
            <a:r>
              <a:rPr lang="en-US" dirty="0" smtClean="0"/>
              <a:t>[5] </a:t>
            </a:r>
            <a:r>
              <a:rPr lang="en-US" dirty="0" err="1" smtClean="0"/>
              <a:t>Xu</a:t>
            </a:r>
            <a:r>
              <a:rPr lang="en-US" dirty="0" smtClean="0"/>
              <a:t>, J (1996), Query expansion using local and global document analysis, </a:t>
            </a:r>
            <a:r>
              <a:rPr lang="en-US" i="1" dirty="0" smtClean="0"/>
              <a:t>Proceedings of the 19th Annual International ACM SIGIR Conference on Research and Development in Information Retrieval, Zurich</a:t>
            </a:r>
            <a:r>
              <a:rPr lang="en-US" dirty="0" smtClean="0"/>
              <a:t>, ACM Press, New York, NY, pp.4-11.</a:t>
            </a:r>
          </a:p>
          <a:p>
            <a:r>
              <a:rPr lang="en-US" dirty="0" smtClean="0">
                <a:solidFill>
                  <a:schemeClr val="accent1">
                    <a:lumMod val="50000"/>
                  </a:schemeClr>
                </a:solidFill>
              </a:rPr>
              <a:t> [6]  </a:t>
            </a:r>
            <a:r>
              <a:rPr lang="en-US" dirty="0" err="1" smtClean="0">
                <a:solidFill>
                  <a:schemeClr val="accent1">
                    <a:lumMod val="50000"/>
                  </a:schemeClr>
                </a:solidFill>
              </a:rPr>
              <a:t>ZHeng</a:t>
            </a:r>
            <a:r>
              <a:rPr lang="en-US" dirty="0" smtClean="0">
                <a:solidFill>
                  <a:schemeClr val="accent1">
                    <a:lumMod val="50000"/>
                  </a:schemeClr>
                </a:solidFill>
              </a:rPr>
              <a:t> Ye, </a:t>
            </a:r>
            <a:r>
              <a:rPr lang="en-US" dirty="0" err="1" smtClean="0">
                <a:solidFill>
                  <a:schemeClr val="accent1">
                    <a:lumMod val="50000"/>
                  </a:schemeClr>
                </a:solidFill>
              </a:rPr>
              <a:t>Xiangi</a:t>
            </a:r>
            <a:r>
              <a:rPr lang="en-US" dirty="0" smtClean="0">
                <a:solidFill>
                  <a:schemeClr val="accent1">
                    <a:lumMod val="50000"/>
                  </a:schemeClr>
                </a:solidFill>
              </a:rPr>
              <a:t> Huang and </a:t>
            </a:r>
            <a:r>
              <a:rPr lang="en-US" dirty="0" err="1" smtClean="0">
                <a:solidFill>
                  <a:schemeClr val="accent1">
                    <a:lumMod val="50000"/>
                  </a:schemeClr>
                </a:solidFill>
              </a:rPr>
              <a:t>Honfei</a:t>
            </a:r>
            <a:r>
              <a:rPr lang="en-US" dirty="0" smtClean="0">
                <a:solidFill>
                  <a:schemeClr val="accent1">
                    <a:lumMod val="50000"/>
                  </a:schemeClr>
                </a:solidFill>
              </a:rPr>
              <a:t> Lin. A Bayesian Network approach to Context Sensitive Query .     Expansion SAC 11, </a:t>
            </a:r>
            <a:r>
              <a:rPr lang="en-US" dirty="0" err="1" smtClean="0">
                <a:solidFill>
                  <a:schemeClr val="accent1">
                    <a:lumMod val="50000"/>
                  </a:schemeClr>
                </a:solidFill>
              </a:rPr>
              <a:t>TaiChaung</a:t>
            </a:r>
            <a:r>
              <a:rPr lang="en-US" dirty="0" smtClean="0">
                <a:solidFill>
                  <a:schemeClr val="accent1">
                    <a:lumMod val="50000"/>
                  </a:schemeClr>
                </a:solidFill>
              </a:rPr>
              <a:t> , Taiwan</a:t>
            </a:r>
          </a:p>
          <a:p>
            <a:r>
              <a:rPr lang="en-US" dirty="0" smtClean="0">
                <a:solidFill>
                  <a:schemeClr val="accent1">
                    <a:lumMod val="50000"/>
                  </a:schemeClr>
                </a:solidFill>
              </a:rPr>
              <a:t>[7]  </a:t>
            </a:r>
            <a:r>
              <a:rPr lang="en-US" dirty="0" err="1" smtClean="0">
                <a:solidFill>
                  <a:schemeClr val="accent1">
                    <a:lumMod val="50000"/>
                  </a:schemeClr>
                </a:solidFill>
              </a:rPr>
              <a:t>Ziyang</a:t>
            </a:r>
            <a:r>
              <a:rPr lang="en-US" dirty="0" smtClean="0">
                <a:solidFill>
                  <a:schemeClr val="accent1">
                    <a:lumMod val="50000"/>
                  </a:schemeClr>
                </a:solidFill>
              </a:rPr>
              <a:t> Liu , </a:t>
            </a:r>
            <a:r>
              <a:rPr lang="en-US" dirty="0" err="1" smtClean="0">
                <a:solidFill>
                  <a:schemeClr val="accent1">
                    <a:lumMod val="50000"/>
                  </a:schemeClr>
                </a:solidFill>
              </a:rPr>
              <a:t>Sivaramakrishnan</a:t>
            </a:r>
            <a:r>
              <a:rPr lang="en-US" dirty="0" smtClean="0">
                <a:solidFill>
                  <a:schemeClr val="accent1">
                    <a:lumMod val="50000"/>
                  </a:schemeClr>
                </a:solidFill>
              </a:rPr>
              <a:t> </a:t>
            </a:r>
            <a:r>
              <a:rPr lang="en-US" dirty="0" err="1" smtClean="0">
                <a:solidFill>
                  <a:schemeClr val="accent1">
                    <a:lumMod val="50000"/>
                  </a:schemeClr>
                </a:solidFill>
              </a:rPr>
              <a:t>Natarajan</a:t>
            </a:r>
            <a:r>
              <a:rPr lang="en-US" dirty="0" smtClean="0">
                <a:solidFill>
                  <a:schemeClr val="accent1">
                    <a:lumMod val="50000"/>
                  </a:schemeClr>
                </a:solidFill>
              </a:rPr>
              <a:t>, Yi Chen. Query Expansion based on Clustered Results.. Proceeding of the VLDB Endowment, </a:t>
            </a:r>
            <a:r>
              <a:rPr lang="en-US" dirty="0" err="1" smtClean="0">
                <a:solidFill>
                  <a:schemeClr val="accent1">
                    <a:lumMod val="50000"/>
                  </a:schemeClr>
                </a:solidFill>
              </a:rPr>
              <a:t>Vol</a:t>
            </a:r>
            <a:r>
              <a:rPr lang="en-US" dirty="0" smtClean="0">
                <a:solidFill>
                  <a:schemeClr val="accent1">
                    <a:lumMod val="50000"/>
                  </a:schemeClr>
                </a:solidFill>
              </a:rPr>
              <a:t> 5. No 6 2011.</a:t>
            </a:r>
          </a:p>
          <a:p>
            <a:r>
              <a:rPr lang="en-US" dirty="0" smtClean="0">
                <a:solidFill>
                  <a:schemeClr val="accent1">
                    <a:lumMod val="50000"/>
                  </a:schemeClr>
                </a:solidFill>
              </a:rPr>
              <a:t>[8] </a:t>
            </a:r>
            <a:r>
              <a:rPr lang="en-US" dirty="0" err="1" smtClean="0">
                <a:solidFill>
                  <a:schemeClr val="accent1">
                    <a:lumMod val="50000"/>
                  </a:schemeClr>
                </a:solidFill>
              </a:rPr>
              <a:t>ZIv</a:t>
            </a:r>
            <a:r>
              <a:rPr lang="en-US" dirty="0" smtClean="0">
                <a:solidFill>
                  <a:schemeClr val="accent1">
                    <a:lumMod val="50000"/>
                  </a:schemeClr>
                </a:solidFill>
              </a:rPr>
              <a:t> Bar – </a:t>
            </a:r>
            <a:r>
              <a:rPr lang="en-US" dirty="0" err="1" smtClean="0">
                <a:solidFill>
                  <a:schemeClr val="accent1">
                    <a:lumMod val="50000"/>
                  </a:schemeClr>
                </a:solidFill>
              </a:rPr>
              <a:t>Yossef</a:t>
            </a:r>
            <a:r>
              <a:rPr lang="en-US" dirty="0" smtClean="0">
                <a:solidFill>
                  <a:schemeClr val="accent1">
                    <a:lumMod val="50000"/>
                  </a:schemeClr>
                </a:solidFill>
              </a:rPr>
              <a:t> ,</a:t>
            </a:r>
            <a:r>
              <a:rPr lang="en-US" dirty="0" err="1" smtClean="0">
                <a:solidFill>
                  <a:schemeClr val="accent1">
                    <a:lumMod val="50000"/>
                  </a:schemeClr>
                </a:solidFill>
              </a:rPr>
              <a:t>Naama</a:t>
            </a:r>
            <a:r>
              <a:rPr lang="en-US" dirty="0" smtClean="0">
                <a:solidFill>
                  <a:schemeClr val="accent1">
                    <a:lumMod val="50000"/>
                  </a:schemeClr>
                </a:solidFill>
              </a:rPr>
              <a:t> Kraus Context sensitive query auto completion. </a:t>
            </a:r>
            <a:r>
              <a:rPr lang="en-US" smtClean="0">
                <a:solidFill>
                  <a:schemeClr val="accent1">
                    <a:lumMod val="50000"/>
                  </a:schemeClr>
                </a:solidFill>
              </a:rPr>
              <a:t>WWW-2011.</a:t>
            </a:r>
            <a:r>
              <a:rPr lang="en-US" dirty="0" smtClean="0"/>
              <a:t> </a:t>
            </a:r>
          </a:p>
          <a:p>
            <a:r>
              <a:rPr lang="en-US" dirty="0" smtClean="0"/>
              <a:t> [9].Global search appliance </a:t>
            </a:r>
            <a:r>
              <a:rPr lang="en-US" u="sng" dirty="0" smtClean="0">
                <a:hlinkClick r:id="rId2"/>
              </a:rPr>
              <a:t>http://www.google.com/enterprise/search/gsa.html</a:t>
            </a:r>
            <a:endParaRPr lang="en-US" dirty="0" smtClean="0"/>
          </a:p>
          <a:p>
            <a:r>
              <a:rPr lang="en-US" dirty="0" smtClean="0"/>
              <a:t> [10] </a:t>
            </a:r>
            <a:r>
              <a:rPr lang="en-US" dirty="0" err="1" smtClean="0"/>
              <a:t>Lucene</a:t>
            </a:r>
            <a:r>
              <a:rPr lang="en-US" dirty="0" smtClean="0"/>
              <a:t> project </a:t>
            </a:r>
            <a:r>
              <a:rPr lang="en-US" u="sng" dirty="0" smtClean="0">
                <a:hlinkClick r:id="rId3"/>
              </a:rPr>
              <a:t>http://lucene.apache.org/java/docs/index.html</a:t>
            </a:r>
            <a:endParaRPr lang="en-US"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4" name="Slide Number Placeholder 3"/>
          <p:cNvSpPr>
            <a:spLocks noGrp="1"/>
          </p:cNvSpPr>
          <p:nvPr>
            <p:ph type="sldNum" sz="quarter" idx="12"/>
          </p:nvPr>
        </p:nvSpPr>
        <p:spPr/>
        <p:txBody>
          <a:bodyPr/>
          <a:lstStyle/>
          <a:p>
            <a:fld id="{E81B8A8D-17D1-400C-B5E6-F34363AC764B}" type="slidenum">
              <a:rPr lang="en-US" smtClean="0"/>
              <a:pPr/>
              <a:t>19</a:t>
            </a:fld>
            <a:endParaRPr lang="en-US"/>
          </a:p>
        </p:txBody>
      </p:sp>
      <p:sp>
        <p:nvSpPr>
          <p:cNvPr id="3" name="Content Placeholder 2"/>
          <p:cNvSpPr>
            <a:spLocks noGrp="1"/>
          </p:cNvSpPr>
          <p:nvPr>
            <p:ph sz="quarter" idx="1"/>
          </p:nvPr>
        </p:nvSpPr>
        <p:spPr/>
        <p:txBody>
          <a:bodyPr/>
          <a:lstStyle/>
          <a:p>
            <a:r>
              <a:rPr lang="en-US" dirty="0" smtClean="0"/>
              <a:t>Question and answers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381000"/>
            <a:ext cx="8534400" cy="758952"/>
          </a:xfrm>
        </p:spPr>
        <p:txBody>
          <a:bodyPr/>
          <a:lstStyle/>
          <a:p>
            <a:r>
              <a:rPr lang="en-US" dirty="0" smtClean="0"/>
              <a:t> faiz </a:t>
            </a:r>
            <a:r>
              <a:rPr lang="en-US" dirty="0" err="1" smtClean="0"/>
              <a:t>ul</a:t>
            </a:r>
            <a:r>
              <a:rPr lang="en-US" dirty="0" smtClean="0"/>
              <a:t> </a:t>
            </a:r>
            <a:r>
              <a:rPr lang="en-US" dirty="0" err="1" smtClean="0"/>
              <a:t>haque</a:t>
            </a:r>
            <a:r>
              <a:rPr lang="en-US" dirty="0" smtClean="0"/>
              <a:t> </a:t>
            </a:r>
            <a:r>
              <a:rPr lang="en-US" dirty="0" err="1" smtClean="0"/>
              <a:t>zeya</a:t>
            </a:r>
            <a:r>
              <a:rPr lang="en-US" dirty="0" smtClean="0"/>
              <a:t> only </a:t>
            </a:r>
            <a:r>
              <a:rPr lang="en-US" dirty="0" err="1" smtClean="0"/>
              <a:t>google</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20</a:t>
            </a:fld>
            <a:endParaRPr lang="en-US"/>
          </a:p>
        </p:txBody>
      </p:sp>
      <p:pic>
        <p:nvPicPr>
          <p:cNvPr id="1026"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534400" cy="758952"/>
          </a:xfrm>
        </p:spPr>
        <p:txBody>
          <a:bodyPr/>
          <a:lstStyle/>
          <a:p>
            <a:r>
              <a:rPr lang="en-US" dirty="0" err="1" smtClean="0"/>
              <a:t>Szabist</a:t>
            </a:r>
            <a:r>
              <a:rPr lang="en-US" dirty="0" smtClean="0"/>
              <a:t> only </a:t>
            </a:r>
            <a:r>
              <a:rPr lang="en-US" dirty="0" err="1" smtClean="0"/>
              <a:t>google</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21</a:t>
            </a:fld>
            <a:endParaRPr lang="en-US"/>
          </a:p>
        </p:txBody>
      </p:sp>
      <p:pic>
        <p:nvPicPr>
          <p:cNvPr id="2050" name="Picture 2"/>
          <p:cNvPicPr>
            <a:picLocks noGrp="1" noChangeAspect="1" noChangeArrowheads="1"/>
          </p:cNvPicPr>
          <p:nvPr>
            <p:ph sz="quarter" idx="1"/>
          </p:nvPr>
        </p:nvPicPr>
        <p:blipFill>
          <a:blip r:embed="rId2"/>
          <a:srcRect/>
          <a:stretch>
            <a:fillRect/>
          </a:stretch>
        </p:blipFill>
        <p:spPr bwMode="auto">
          <a:xfrm>
            <a:off x="1505744" y="1524000"/>
            <a:ext cx="6096000" cy="45720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information technology only </a:t>
            </a:r>
            <a:r>
              <a:rPr lang="en-US" dirty="0" err="1" smtClean="0"/>
              <a:t>google</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22</a:t>
            </a:fld>
            <a:endParaRPr lang="en-US"/>
          </a:p>
        </p:txBody>
      </p:sp>
      <p:pic>
        <p:nvPicPr>
          <p:cNvPr id="3074"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computer science only </a:t>
            </a:r>
            <a:r>
              <a:rPr lang="en-US" dirty="0" err="1" smtClean="0"/>
              <a:t>google</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23</a:t>
            </a:fld>
            <a:endParaRPr lang="en-US"/>
          </a:p>
        </p:txBody>
      </p:sp>
      <p:pic>
        <p:nvPicPr>
          <p:cNvPr id="4098"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Szabist</a:t>
            </a:r>
            <a:r>
              <a:rPr lang="en-US" dirty="0" smtClean="0"/>
              <a:t> </a:t>
            </a:r>
            <a:r>
              <a:rPr lang="en-US" dirty="0" err="1" smtClean="0"/>
              <a:t>synsets</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24</a:t>
            </a:fld>
            <a:endParaRPr lang="en-US"/>
          </a:p>
        </p:txBody>
      </p:sp>
      <p:pic>
        <p:nvPicPr>
          <p:cNvPr id="5122"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a:t>
            </a:r>
            <a:r>
              <a:rPr lang="en-US" dirty="0" err="1" smtClean="0"/>
              <a:t>sceince</a:t>
            </a:r>
            <a:r>
              <a:rPr lang="en-US" dirty="0" smtClean="0"/>
              <a:t> </a:t>
            </a:r>
            <a:r>
              <a:rPr lang="en-US" smtClean="0"/>
              <a:t>synsets</a:t>
            </a:r>
            <a:endParaRPr lang="en-US"/>
          </a:p>
        </p:txBody>
      </p:sp>
      <p:sp>
        <p:nvSpPr>
          <p:cNvPr id="3" name="Slide Number Placeholder 2"/>
          <p:cNvSpPr>
            <a:spLocks noGrp="1"/>
          </p:cNvSpPr>
          <p:nvPr>
            <p:ph type="sldNum" sz="quarter" idx="12"/>
          </p:nvPr>
        </p:nvSpPr>
        <p:spPr/>
        <p:txBody>
          <a:bodyPr/>
          <a:lstStyle/>
          <a:p>
            <a:fld id="{E81B8A8D-17D1-400C-B5E6-F34363AC764B}" type="slidenum">
              <a:rPr lang="en-US" smtClean="0"/>
              <a:pPr/>
              <a:t>25</a:t>
            </a:fld>
            <a:endParaRPr lang="en-US"/>
          </a:p>
        </p:txBody>
      </p:sp>
      <p:pic>
        <p:nvPicPr>
          <p:cNvPr id="6146"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technology </a:t>
            </a:r>
            <a:r>
              <a:rPr lang="en-US" dirty="0" err="1" smtClean="0"/>
              <a:t>synsets</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26</a:t>
            </a:fld>
            <a:endParaRPr lang="en-US"/>
          </a:p>
        </p:txBody>
      </p:sp>
      <p:pic>
        <p:nvPicPr>
          <p:cNvPr id="1026"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Faiz </a:t>
            </a:r>
            <a:r>
              <a:rPr lang="en-US" dirty="0" err="1" smtClean="0"/>
              <a:t>ul</a:t>
            </a:r>
            <a:r>
              <a:rPr lang="en-US" dirty="0" smtClean="0"/>
              <a:t> </a:t>
            </a:r>
            <a:r>
              <a:rPr lang="en-US" dirty="0" err="1" smtClean="0"/>
              <a:t>haque</a:t>
            </a:r>
            <a:r>
              <a:rPr lang="en-US" dirty="0" smtClean="0"/>
              <a:t> Zeya </a:t>
            </a:r>
            <a:r>
              <a:rPr lang="en-US" dirty="0" err="1" smtClean="0"/>
              <a:t>synsets</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27</a:t>
            </a:fld>
            <a:endParaRPr lang="en-US"/>
          </a:p>
        </p:txBody>
      </p:sp>
      <p:pic>
        <p:nvPicPr>
          <p:cNvPr id="2050"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Szabist</a:t>
            </a:r>
            <a:r>
              <a:rPr lang="en-US" dirty="0" smtClean="0"/>
              <a:t> with </a:t>
            </a:r>
            <a:r>
              <a:rPr lang="en-US" dirty="0" err="1" smtClean="0"/>
              <a:t>synsets</a:t>
            </a:r>
            <a:r>
              <a:rPr lang="en-US" dirty="0" smtClean="0"/>
              <a:t> and </a:t>
            </a:r>
            <a:r>
              <a:rPr lang="en-US" dirty="0" err="1" smtClean="0"/>
              <a:t>chou</a:t>
            </a:r>
            <a:r>
              <a:rPr lang="en-US" dirty="0" smtClean="0"/>
              <a:t> </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28</a:t>
            </a:fld>
            <a:endParaRPr lang="en-US"/>
          </a:p>
        </p:txBody>
      </p:sp>
      <p:pic>
        <p:nvPicPr>
          <p:cNvPr id="3074" name="Picture 2"/>
          <p:cNvPicPr>
            <a:picLocks noGrp="1" noChangeAspect="1" noChangeArrowheads="1"/>
          </p:cNvPicPr>
          <p:nvPr>
            <p:ph sz="quarter" idx="1"/>
          </p:nvPr>
        </p:nvPicPr>
        <p:blipFill>
          <a:blip r:embed="rId2"/>
          <a:srcRect/>
          <a:stretch>
            <a:fillRect/>
          </a:stretch>
        </p:blipFill>
        <p:spPr bwMode="auto">
          <a:xfrm>
            <a:off x="1447800" y="1600200"/>
            <a:ext cx="6096000" cy="45720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smtClean="0"/>
              <a:t>Faiz </a:t>
            </a:r>
            <a:r>
              <a:rPr lang="en-US" sz="2400" dirty="0" err="1" smtClean="0"/>
              <a:t>ul</a:t>
            </a:r>
            <a:r>
              <a:rPr lang="en-US" sz="2400" dirty="0" smtClean="0"/>
              <a:t> </a:t>
            </a:r>
            <a:r>
              <a:rPr lang="en-US" sz="2400" dirty="0" err="1" smtClean="0"/>
              <a:t>haque</a:t>
            </a:r>
            <a:r>
              <a:rPr lang="en-US" sz="2400" dirty="0" smtClean="0"/>
              <a:t> </a:t>
            </a:r>
            <a:r>
              <a:rPr lang="en-US" sz="2400" dirty="0" err="1" smtClean="0"/>
              <a:t>zeya</a:t>
            </a:r>
            <a:r>
              <a:rPr lang="en-US" sz="2400" dirty="0" smtClean="0"/>
              <a:t> with </a:t>
            </a:r>
            <a:r>
              <a:rPr lang="en-US" sz="2400" dirty="0" err="1" smtClean="0"/>
              <a:t>synsets</a:t>
            </a:r>
            <a:r>
              <a:rPr lang="en-US" sz="2400" dirty="0" smtClean="0"/>
              <a:t> and </a:t>
            </a:r>
            <a:r>
              <a:rPr lang="en-US" sz="2400" dirty="0" err="1" smtClean="0"/>
              <a:t>chou</a:t>
            </a:r>
            <a:r>
              <a:rPr lang="en-US" sz="2400" dirty="0" smtClean="0"/>
              <a:t> factor </a:t>
            </a:r>
            <a:br>
              <a:rPr lang="en-US" sz="2400" dirty="0" smtClean="0"/>
            </a:br>
            <a:r>
              <a:rPr lang="en-US" sz="2400" dirty="0" smtClean="0"/>
              <a:t>=1</a:t>
            </a:r>
            <a:endParaRPr lang="en-US" sz="2400"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29</a:t>
            </a:fld>
            <a:endParaRPr lang="en-US"/>
          </a:p>
        </p:txBody>
      </p:sp>
      <p:pic>
        <p:nvPicPr>
          <p:cNvPr id="4098"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science with </a:t>
            </a:r>
            <a:r>
              <a:rPr lang="en-US" dirty="0" err="1" smtClean="0"/>
              <a:t>synset,chou</a:t>
            </a:r>
            <a:r>
              <a:rPr lang="en-US" dirty="0" smtClean="0"/>
              <a:t> factor=1</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30</a:t>
            </a:fld>
            <a:endParaRPr lang="en-US"/>
          </a:p>
        </p:txBody>
      </p:sp>
      <p:pic>
        <p:nvPicPr>
          <p:cNvPr id="5122"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2700" dirty="0" smtClean="0"/>
              <a:t>Information technology with </a:t>
            </a:r>
            <a:r>
              <a:rPr lang="en-US" sz="2700" dirty="0" err="1" smtClean="0"/>
              <a:t>chou,synset</a:t>
            </a:r>
            <a:r>
              <a:rPr lang="en-US" sz="2700" dirty="0" smtClean="0"/>
              <a:t> factor=1</a:t>
            </a:r>
            <a:endParaRPr lang="en-US" sz="2700"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31</a:t>
            </a:fld>
            <a:endParaRPr lang="en-US"/>
          </a:p>
        </p:txBody>
      </p:sp>
      <p:pic>
        <p:nvPicPr>
          <p:cNvPr id="6146"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Description computer science</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32</a:t>
            </a:fld>
            <a:endParaRPr lang="en-US"/>
          </a:p>
        </p:txBody>
      </p:sp>
      <p:pic>
        <p:nvPicPr>
          <p:cNvPr id="7170"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Description information technology</a:t>
            </a:r>
            <a:endParaRPr lang="en-US" dirty="0"/>
          </a:p>
        </p:txBody>
      </p:sp>
      <p:sp>
        <p:nvSpPr>
          <p:cNvPr id="3" name="Slide Number Placeholder 2"/>
          <p:cNvSpPr>
            <a:spLocks noGrp="1"/>
          </p:cNvSpPr>
          <p:nvPr>
            <p:ph type="sldNum" sz="quarter" idx="12"/>
          </p:nvPr>
        </p:nvSpPr>
        <p:spPr/>
        <p:txBody>
          <a:bodyPr/>
          <a:lstStyle/>
          <a:p>
            <a:fld id="{E81B8A8D-17D1-400C-B5E6-F34363AC764B}" type="slidenum">
              <a:rPr lang="en-US" smtClean="0"/>
              <a:pPr/>
              <a:t>33</a:t>
            </a:fld>
            <a:endParaRPr lang="en-US"/>
          </a:p>
        </p:txBody>
      </p:sp>
      <p:pic>
        <p:nvPicPr>
          <p:cNvPr id="8194" name="Picture 2"/>
          <p:cNvPicPr>
            <a:picLocks noGrp="1" noChangeAspect="1" noChangeArrowheads="1"/>
          </p:cNvPicPr>
          <p:nvPr>
            <p:ph sz="quarter" idx="1"/>
          </p:nvPr>
        </p:nvPicPr>
        <p:blipFill>
          <a:blip r:embed="rId2"/>
          <a:srcRect/>
          <a:stretch>
            <a:fillRect/>
          </a:stretch>
        </p:blipFill>
        <p:spPr bwMode="auto">
          <a:xfrm>
            <a:off x="1505744" y="1527175"/>
            <a:ext cx="6096000" cy="4572000"/>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346</TotalTime>
  <Words>595</Words>
  <Application>Microsoft Office PowerPoint</Application>
  <PresentationFormat>On-screen Show (4:3)</PresentationFormat>
  <Paragraphs>155</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Calibri</vt:lpstr>
      <vt:lpstr>Georgia</vt:lpstr>
      <vt:lpstr>Wingdings</vt:lpstr>
      <vt:lpstr>Wingdings 2</vt:lpstr>
      <vt:lpstr>Civic</vt:lpstr>
      <vt:lpstr>Query expansion for search improvement</vt:lpstr>
      <vt:lpstr>Agenda</vt:lpstr>
      <vt:lpstr>Introduction</vt:lpstr>
      <vt:lpstr>Problem statement </vt:lpstr>
      <vt:lpstr>Google query expansion</vt:lpstr>
      <vt:lpstr>Product overview</vt:lpstr>
      <vt:lpstr>Lucene</vt:lpstr>
      <vt:lpstr>Literature review</vt:lpstr>
      <vt:lpstr>Chou’s approach</vt:lpstr>
      <vt:lpstr>Implementation</vt:lpstr>
      <vt:lpstr>My approach</vt:lpstr>
      <vt:lpstr>Experiment details</vt:lpstr>
      <vt:lpstr>Results</vt:lpstr>
      <vt:lpstr>Results</vt:lpstr>
      <vt:lpstr>Results</vt:lpstr>
      <vt:lpstr>Conclusion</vt:lpstr>
      <vt:lpstr>Possible applications</vt:lpstr>
      <vt:lpstr>References:</vt:lpstr>
      <vt:lpstr> </vt:lpstr>
      <vt:lpstr> faiz ul haque zeya only google</vt:lpstr>
      <vt:lpstr>Szabist only google</vt:lpstr>
      <vt:lpstr> information technology only google</vt:lpstr>
      <vt:lpstr> computer science only google</vt:lpstr>
      <vt:lpstr>Szabist synsets</vt:lpstr>
      <vt:lpstr>Computer sceince synsets</vt:lpstr>
      <vt:lpstr>Information technology synsets</vt:lpstr>
      <vt:lpstr>Faiz ul haque Zeya synsets</vt:lpstr>
      <vt:lpstr>Szabist with synsets and chou </vt:lpstr>
      <vt:lpstr>Faiz ul haque zeya with synsets and chou factor  =1</vt:lpstr>
      <vt:lpstr>Computer science with synset,chou factor=1</vt:lpstr>
      <vt:lpstr> Information technology with chou,synset factor=1</vt:lpstr>
      <vt:lpstr>Description computer science</vt:lpstr>
      <vt:lpstr>Description information technology</vt:lpstr>
    </vt:vector>
  </TitlesOfParts>
  <Company>transys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 expansion for search improvement</dc:title>
  <dc:creator>faiz ul haque zeya</dc:creator>
  <cp:lastModifiedBy>faiz ul haque zeya</cp:lastModifiedBy>
  <cp:revision>84</cp:revision>
  <dcterms:created xsi:type="dcterms:W3CDTF">2011-12-02T04:02:21Z</dcterms:created>
  <dcterms:modified xsi:type="dcterms:W3CDTF">2017-08-09T10:26:43Z</dcterms:modified>
</cp:coreProperties>
</file>