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1" r:id="rId1"/>
  </p:sldMasterIdLst>
  <p:notesMasterIdLst>
    <p:notesMasterId r:id="rId23"/>
  </p:notesMasterIdLst>
  <p:handoutMasterIdLst>
    <p:handoutMasterId r:id="rId24"/>
  </p:handoutMasterIdLst>
  <p:sldIdLst>
    <p:sldId id="256" r:id="rId2"/>
    <p:sldId id="403" r:id="rId3"/>
    <p:sldId id="404" r:id="rId4"/>
    <p:sldId id="405" r:id="rId5"/>
    <p:sldId id="380" r:id="rId6"/>
    <p:sldId id="257" r:id="rId7"/>
    <p:sldId id="369" r:id="rId8"/>
    <p:sldId id="364" r:id="rId9"/>
    <p:sldId id="377" r:id="rId10"/>
    <p:sldId id="378" r:id="rId11"/>
    <p:sldId id="371" r:id="rId12"/>
    <p:sldId id="370" r:id="rId13"/>
    <p:sldId id="397" r:id="rId14"/>
    <p:sldId id="398" r:id="rId15"/>
    <p:sldId id="399" r:id="rId16"/>
    <p:sldId id="400" r:id="rId17"/>
    <p:sldId id="401" r:id="rId18"/>
    <p:sldId id="395" r:id="rId19"/>
    <p:sldId id="402" r:id="rId20"/>
    <p:sldId id="396" r:id="rId21"/>
    <p:sldId id="406" r:id="rId2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521415D9-36F7-43E2-AB2F-B90AF26B5E84}">
      <p14:sectionLst xmlns:p14="http://schemas.microsoft.com/office/powerpoint/2010/main">
        <p14:section name="Default Section" id="{6805B82E-454A-4552-AD8D-8BC83667AA5D}">
          <p14:sldIdLst>
            <p14:sldId id="256"/>
            <p14:sldId id="403"/>
            <p14:sldId id="404"/>
            <p14:sldId id="405"/>
            <p14:sldId id="380"/>
            <p14:sldId id="257"/>
            <p14:sldId id="369"/>
            <p14:sldId id="364"/>
            <p14:sldId id="377"/>
            <p14:sldId id="378"/>
          </p14:sldIdLst>
        </p14:section>
        <p14:section name="Untitled Section" id="{C7289C52-2ED6-4780-87E5-63AE7F7FF0A6}">
          <p14:sldIdLst>
            <p14:sldId id="371"/>
            <p14:sldId id="370"/>
            <p14:sldId id="397"/>
            <p14:sldId id="398"/>
            <p14:sldId id="399"/>
            <p14:sldId id="400"/>
            <p14:sldId id="401"/>
            <p14:sldId id="395"/>
            <p14:sldId id="402"/>
            <p14:sldId id="396"/>
            <p14:sldId id="40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29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31st Academic Council Meeting</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AD4ED1-E97A-4649-AFF5-C6DD4955AEF1}" type="datetimeFigureOut">
              <a:rPr lang="en-US" smtClean="0"/>
              <a:pPr/>
              <a:t>3/4/2021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Agenda item 3101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25A154E-3BAB-4D17-8754-E9ED344A2382}" type="slidenum">
              <a:rPr lang="en-US" smtClean="0"/>
              <a:pPr/>
              <a:t>‹#›</a:t>
            </a:fld>
            <a:endParaRPr lang="en-US"/>
          </a:p>
        </p:txBody>
      </p:sp>
    </p:spTree>
    <p:extLst>
      <p:ext uri="{BB962C8B-B14F-4D97-AF65-F5344CB8AC3E}">
        <p14:creationId xmlns:p14="http://schemas.microsoft.com/office/powerpoint/2010/main" val="3253408792"/>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31st Academic Council Meeting</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B39650-A9FB-4643-9236-B013DEFA6CA7}" type="datetimeFigureOut">
              <a:rPr lang="en-US" smtClean="0"/>
              <a:t>3/4/2021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Agenda item 3101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1B3EFB-BEBB-4958-A1FA-6F78F4490F1D}" type="slidenum">
              <a:rPr lang="en-US" smtClean="0"/>
              <a:t>‹#›</a:t>
            </a:fld>
            <a:endParaRPr lang="en-US"/>
          </a:p>
        </p:txBody>
      </p:sp>
    </p:spTree>
    <p:extLst>
      <p:ext uri="{BB962C8B-B14F-4D97-AF65-F5344CB8AC3E}">
        <p14:creationId xmlns:p14="http://schemas.microsoft.com/office/powerpoint/2010/main" val="325491599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Footer Placeholder 5"/>
          <p:cNvSpPr>
            <a:spLocks noGrp="1"/>
          </p:cNvSpPr>
          <p:nvPr>
            <p:ph type="ftr" sz="quarter" idx="10"/>
          </p:nvPr>
        </p:nvSpPr>
        <p:spPr/>
        <p:txBody>
          <a:bodyPr/>
          <a:lstStyle/>
          <a:p>
            <a:r>
              <a:rPr lang="en-US"/>
              <a:t>Agenda item 3101</a:t>
            </a:r>
          </a:p>
        </p:txBody>
      </p:sp>
      <p:sp>
        <p:nvSpPr>
          <p:cNvPr id="7" name="Header Placeholder 6"/>
          <p:cNvSpPr>
            <a:spLocks noGrp="1"/>
          </p:cNvSpPr>
          <p:nvPr>
            <p:ph type="hdr" sz="quarter" idx="11"/>
          </p:nvPr>
        </p:nvSpPr>
        <p:spPr/>
        <p:txBody>
          <a:bodyPr/>
          <a:lstStyle/>
          <a:p>
            <a:r>
              <a:rPr lang="en-US"/>
              <a:t>31st Academic Council Meeting</a:t>
            </a:r>
          </a:p>
        </p:txBody>
      </p:sp>
    </p:spTree>
    <p:extLst>
      <p:ext uri="{BB962C8B-B14F-4D97-AF65-F5344CB8AC3E}">
        <p14:creationId xmlns:p14="http://schemas.microsoft.com/office/powerpoint/2010/main" val="338747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31st Academic Council Meeting</a:t>
            </a:r>
          </a:p>
        </p:txBody>
      </p:sp>
      <p:sp>
        <p:nvSpPr>
          <p:cNvPr id="5" name="Footer Placeholder 4"/>
          <p:cNvSpPr>
            <a:spLocks noGrp="1"/>
          </p:cNvSpPr>
          <p:nvPr>
            <p:ph type="ftr" sz="quarter" idx="11"/>
          </p:nvPr>
        </p:nvSpPr>
        <p:spPr/>
        <p:txBody>
          <a:bodyPr/>
          <a:lstStyle/>
          <a:p>
            <a:r>
              <a:rPr lang="en-US"/>
              <a:t>Agenda item 3101</a:t>
            </a:r>
          </a:p>
        </p:txBody>
      </p:sp>
    </p:spTree>
    <p:extLst>
      <p:ext uri="{BB962C8B-B14F-4D97-AF65-F5344CB8AC3E}">
        <p14:creationId xmlns:p14="http://schemas.microsoft.com/office/powerpoint/2010/main" val="4234699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31st Academic Council Meeting</a:t>
            </a:r>
          </a:p>
        </p:txBody>
      </p:sp>
      <p:sp>
        <p:nvSpPr>
          <p:cNvPr id="5" name="Footer Placeholder 4"/>
          <p:cNvSpPr>
            <a:spLocks noGrp="1"/>
          </p:cNvSpPr>
          <p:nvPr>
            <p:ph type="ftr" sz="quarter" idx="11"/>
          </p:nvPr>
        </p:nvSpPr>
        <p:spPr/>
        <p:txBody>
          <a:bodyPr/>
          <a:lstStyle/>
          <a:p>
            <a:r>
              <a:rPr lang="en-US"/>
              <a:t>Agenda item 3101</a:t>
            </a:r>
          </a:p>
        </p:txBody>
      </p:sp>
    </p:spTree>
    <p:extLst>
      <p:ext uri="{BB962C8B-B14F-4D97-AF65-F5344CB8AC3E}">
        <p14:creationId xmlns:p14="http://schemas.microsoft.com/office/powerpoint/2010/main" val="3223278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31st Academic Council Meeting</a:t>
            </a:r>
          </a:p>
        </p:txBody>
      </p:sp>
      <p:sp>
        <p:nvSpPr>
          <p:cNvPr id="5" name="Footer Placeholder 4"/>
          <p:cNvSpPr>
            <a:spLocks noGrp="1"/>
          </p:cNvSpPr>
          <p:nvPr>
            <p:ph type="ftr" sz="quarter" idx="11"/>
          </p:nvPr>
        </p:nvSpPr>
        <p:spPr/>
        <p:txBody>
          <a:bodyPr/>
          <a:lstStyle/>
          <a:p>
            <a:r>
              <a:rPr lang="en-US"/>
              <a:t>Agenda item 3101</a:t>
            </a:r>
          </a:p>
        </p:txBody>
      </p:sp>
    </p:spTree>
    <p:extLst>
      <p:ext uri="{BB962C8B-B14F-4D97-AF65-F5344CB8AC3E}">
        <p14:creationId xmlns:p14="http://schemas.microsoft.com/office/powerpoint/2010/main" val="3819307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Footer Placeholder 5"/>
          <p:cNvSpPr>
            <a:spLocks noGrp="1"/>
          </p:cNvSpPr>
          <p:nvPr>
            <p:ph type="ftr" sz="quarter" idx="10"/>
          </p:nvPr>
        </p:nvSpPr>
        <p:spPr/>
        <p:txBody>
          <a:bodyPr/>
          <a:lstStyle/>
          <a:p>
            <a:r>
              <a:rPr lang="en-US"/>
              <a:t>Agenda item 3101</a:t>
            </a:r>
          </a:p>
        </p:txBody>
      </p:sp>
      <p:sp>
        <p:nvSpPr>
          <p:cNvPr id="7" name="Header Placeholder 6"/>
          <p:cNvSpPr>
            <a:spLocks noGrp="1"/>
          </p:cNvSpPr>
          <p:nvPr>
            <p:ph type="hdr" sz="quarter" idx="11"/>
          </p:nvPr>
        </p:nvSpPr>
        <p:spPr/>
        <p:txBody>
          <a:bodyPr/>
          <a:lstStyle/>
          <a:p>
            <a:r>
              <a:rPr lang="en-US"/>
              <a:t>31st Academic Council Meeting</a:t>
            </a:r>
          </a:p>
        </p:txBody>
      </p:sp>
    </p:spTree>
    <p:extLst>
      <p:ext uri="{BB962C8B-B14F-4D97-AF65-F5344CB8AC3E}">
        <p14:creationId xmlns:p14="http://schemas.microsoft.com/office/powerpoint/2010/main" val="51590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31st Academic Council Meeting</a:t>
            </a:r>
          </a:p>
        </p:txBody>
      </p:sp>
      <p:sp>
        <p:nvSpPr>
          <p:cNvPr id="5" name="Footer Placeholder 4"/>
          <p:cNvSpPr>
            <a:spLocks noGrp="1"/>
          </p:cNvSpPr>
          <p:nvPr>
            <p:ph type="ftr" sz="quarter" idx="11"/>
          </p:nvPr>
        </p:nvSpPr>
        <p:spPr/>
        <p:txBody>
          <a:bodyPr/>
          <a:lstStyle/>
          <a:p>
            <a:r>
              <a:rPr lang="en-US"/>
              <a:t>Agenda item 3101</a:t>
            </a:r>
          </a:p>
        </p:txBody>
      </p:sp>
    </p:spTree>
    <p:extLst>
      <p:ext uri="{BB962C8B-B14F-4D97-AF65-F5344CB8AC3E}">
        <p14:creationId xmlns:p14="http://schemas.microsoft.com/office/powerpoint/2010/main" val="289160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0" y="9525"/>
            <a:ext cx="2133600" cy="365125"/>
          </a:xfrm>
          <a:prstGeom prst="rect">
            <a:avLst/>
          </a:prstGeom>
        </p:spPr>
        <p:txBody>
          <a:bodyPr/>
          <a:lstStyle/>
          <a:p>
            <a:r>
              <a:rPr lang="en-US"/>
              <a:t>31st ACM</a:t>
            </a:r>
          </a:p>
        </p:txBody>
      </p:sp>
      <p:sp>
        <p:nvSpPr>
          <p:cNvPr id="5" name="Footer Placeholder 4"/>
          <p:cNvSpPr>
            <a:spLocks noGrp="1"/>
          </p:cNvSpPr>
          <p:nvPr>
            <p:ph type="ftr" sz="quarter" idx="11"/>
          </p:nvPr>
        </p:nvSpPr>
        <p:spPr>
          <a:xfrm>
            <a:off x="6953250" y="9525"/>
            <a:ext cx="2895600" cy="365125"/>
          </a:xfrm>
        </p:spPr>
        <p:txBody>
          <a:bodyPr/>
          <a:lstStyle/>
          <a:p>
            <a:endParaRPr lang="en-US"/>
          </a:p>
        </p:txBody>
      </p:sp>
      <p:sp>
        <p:nvSpPr>
          <p:cNvPr id="6" name="Slide Number Placeholder 5"/>
          <p:cNvSpPr>
            <a:spLocks noGrp="1"/>
          </p:cNvSpPr>
          <p:nvPr>
            <p:ph type="sldNum" sz="quarter" idx="12"/>
          </p:nvPr>
        </p:nvSpPr>
        <p:spPr>
          <a:xfrm>
            <a:off x="6972300" y="6356350"/>
            <a:ext cx="2133600" cy="365125"/>
          </a:xfrm>
        </p:spPr>
        <p:txBody>
          <a:bodyPr/>
          <a:lstStyle/>
          <a:p>
            <a:fld id="{58C62F1B-ABBE-4FD2-8987-9CEDE1C9DAE1}" type="slidenum">
              <a:rPr lang="en-US" smtClean="0"/>
              <a:pPr/>
              <a:t>‹#›</a:t>
            </a:fld>
            <a:endParaRPr lang="en-US"/>
          </a:p>
        </p:txBody>
      </p:sp>
    </p:spTree>
    <p:extLst>
      <p:ext uri="{BB962C8B-B14F-4D97-AF65-F5344CB8AC3E}">
        <p14:creationId xmlns:p14="http://schemas.microsoft.com/office/powerpoint/2010/main" val="1551001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100" y="-6350"/>
            <a:ext cx="2133600" cy="365125"/>
          </a:xfrm>
          <a:prstGeom prst="rect">
            <a:avLst/>
          </a:prstGeom>
        </p:spPr>
        <p:txBody>
          <a:bodyPr/>
          <a:lstStyle/>
          <a:p>
            <a:r>
              <a:rPr lang="en-US"/>
              <a:t>31st ACM</a:t>
            </a:r>
            <a:endParaRPr lang="en-US" dirty="0"/>
          </a:p>
        </p:txBody>
      </p:sp>
      <p:sp>
        <p:nvSpPr>
          <p:cNvPr id="5" name="Footer Placeholder 4"/>
          <p:cNvSpPr>
            <a:spLocks noGrp="1"/>
          </p:cNvSpPr>
          <p:nvPr>
            <p:ph type="ftr" sz="quarter" idx="11"/>
          </p:nvPr>
        </p:nvSpPr>
        <p:spPr>
          <a:xfrm>
            <a:off x="6858000" y="-32543"/>
            <a:ext cx="2895600" cy="365125"/>
          </a:xfrm>
        </p:spPr>
        <p:txBody>
          <a:bodyPr/>
          <a:lstStyle/>
          <a:p>
            <a:endParaRPr lang="en-US" dirty="0"/>
          </a:p>
        </p:txBody>
      </p:sp>
      <p:sp>
        <p:nvSpPr>
          <p:cNvPr id="6" name="Slide Number Placeholder 5"/>
          <p:cNvSpPr>
            <a:spLocks noGrp="1"/>
          </p:cNvSpPr>
          <p:nvPr>
            <p:ph type="sldNum" sz="quarter" idx="12"/>
          </p:nvPr>
        </p:nvSpPr>
        <p:spPr>
          <a:xfrm>
            <a:off x="7010400" y="6375400"/>
            <a:ext cx="2133600" cy="365125"/>
          </a:xfrm>
        </p:spPr>
        <p:txBody>
          <a:bodyPr/>
          <a:lstStyle/>
          <a:p>
            <a:fld id="{903FFB06-94E0-41AA-9EA5-2FC111FA609D}" type="slidenum">
              <a:rPr lang="en-US" smtClean="0"/>
              <a:pPr/>
              <a:t>‹#›</a:t>
            </a:fld>
            <a:endParaRPr lang="en-US" dirty="0"/>
          </a:p>
        </p:txBody>
      </p:sp>
    </p:spTree>
    <p:extLst>
      <p:ext uri="{BB962C8B-B14F-4D97-AF65-F5344CB8AC3E}">
        <p14:creationId xmlns:p14="http://schemas.microsoft.com/office/powerpoint/2010/main" val="4253156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r>
              <a:rPr lang="en-US"/>
              <a:t>31st ACM</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CA95C5-F866-446A-9529-9DCAF93E0D65}" type="slidenum">
              <a:rPr lang="en-US" smtClean="0"/>
              <a:pPr/>
              <a:t>‹#›</a:t>
            </a:fld>
            <a:endParaRPr lang="en-US"/>
          </a:p>
        </p:txBody>
      </p:sp>
    </p:spTree>
    <p:extLst>
      <p:ext uri="{BB962C8B-B14F-4D97-AF65-F5344CB8AC3E}">
        <p14:creationId xmlns:p14="http://schemas.microsoft.com/office/powerpoint/2010/main" val="4249834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r>
              <a:rPr lang="en-US"/>
              <a:t>31st ACM</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A951C0-3EF2-4C71-A934-E99432D82637}" type="slidenum">
              <a:rPr lang="en-US" smtClean="0"/>
              <a:pPr/>
              <a:t>‹#›</a:t>
            </a:fld>
            <a:endParaRPr lang="en-US"/>
          </a:p>
        </p:txBody>
      </p:sp>
    </p:spTree>
    <p:extLst>
      <p:ext uri="{BB962C8B-B14F-4D97-AF65-F5344CB8AC3E}">
        <p14:creationId xmlns:p14="http://schemas.microsoft.com/office/powerpoint/2010/main" val="3669896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r>
              <a:rPr lang="en-US"/>
              <a:t>31st ACM</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5A15C7-4F9F-40A6-A2E1-3AA25207F487}" type="slidenum">
              <a:rPr lang="en-US" smtClean="0"/>
              <a:pPr/>
              <a:t>‹#›</a:t>
            </a:fld>
            <a:endParaRPr lang="en-US" dirty="0"/>
          </a:p>
        </p:txBody>
      </p:sp>
    </p:spTree>
    <p:extLst>
      <p:ext uri="{BB962C8B-B14F-4D97-AF65-F5344CB8AC3E}">
        <p14:creationId xmlns:p14="http://schemas.microsoft.com/office/powerpoint/2010/main" val="24232598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48C908-9111-4CEE-AB8E-A5D77199903A}" type="slidenum">
              <a:rPr lang="en-US" smtClean="0"/>
              <a:pPr/>
              <a:t>‹#›</a:t>
            </a:fld>
            <a:endParaRPr lang="en-US" dirty="0"/>
          </a:p>
        </p:txBody>
      </p:sp>
      <p:sp>
        <p:nvSpPr>
          <p:cNvPr id="7" name="Date Placeholder 6"/>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31st ACM</a:t>
            </a:r>
          </a:p>
        </p:txBody>
      </p:sp>
    </p:spTree>
    <p:extLst>
      <p:ext uri="{BB962C8B-B14F-4D97-AF65-F5344CB8AC3E}">
        <p14:creationId xmlns:p14="http://schemas.microsoft.com/office/powerpoint/2010/main" val="179030634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7" r:id="rId4"/>
    <p:sldLayoutId id="2147483668"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1000" y="0"/>
            <a:ext cx="8458200" cy="1371600"/>
          </a:xfrm>
        </p:spPr>
        <p:txBody>
          <a:bodyPr/>
          <a:lstStyle/>
          <a:p>
            <a:r>
              <a:rPr lang="en-US" b="1" dirty="0"/>
              <a:t>Welcome to Spring 2021</a:t>
            </a:r>
            <a:endParaRPr lang="en-US" b="1" dirty="0">
              <a:solidFill>
                <a:srgbClr val="002060"/>
              </a:solidFill>
            </a:endParaRPr>
          </a:p>
        </p:txBody>
      </p:sp>
      <p:sp>
        <p:nvSpPr>
          <p:cNvPr id="2051" name="Rectangle 3"/>
          <p:cNvSpPr>
            <a:spLocks noGrp="1" noChangeArrowheads="1"/>
          </p:cNvSpPr>
          <p:nvPr>
            <p:ph type="subTitle" idx="1"/>
          </p:nvPr>
        </p:nvSpPr>
        <p:spPr>
          <a:xfrm>
            <a:off x="304800" y="3200400"/>
            <a:ext cx="8763000" cy="2819400"/>
          </a:xfrm>
        </p:spPr>
        <p:txBody>
          <a:bodyPr/>
          <a:lstStyle/>
          <a:p>
            <a:r>
              <a:rPr lang="en-US" sz="2800" b="1" dirty="0">
                <a:solidFill>
                  <a:srgbClr val="002060"/>
                </a:solidFill>
              </a:rPr>
              <a:t>Department of Software Engineering</a:t>
            </a:r>
          </a:p>
        </p:txBody>
      </p:sp>
      <p:cxnSp>
        <p:nvCxnSpPr>
          <p:cNvPr id="4" name="Straight Connector 3"/>
          <p:cNvCxnSpPr/>
          <p:nvPr/>
        </p:nvCxnSpPr>
        <p:spPr>
          <a:xfrm>
            <a:off x="0" y="11430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r>
              <a:rPr lang="en-US" b="1" dirty="0"/>
              <a:t>Washington Accord</a:t>
            </a:r>
            <a:br>
              <a:rPr lang="en-US" b="1" dirty="0"/>
            </a:br>
            <a:endParaRPr lang="en-US" b="1" dirty="0"/>
          </a:p>
        </p:txBody>
      </p:sp>
      <p:sp>
        <p:nvSpPr>
          <p:cNvPr id="7171" name="Rectangle 3"/>
          <p:cNvSpPr>
            <a:spLocks noGrp="1" noChangeArrowheads="1"/>
          </p:cNvSpPr>
          <p:nvPr>
            <p:ph idx="1"/>
          </p:nvPr>
        </p:nvSpPr>
        <p:spPr>
          <a:xfrm>
            <a:off x="566738" y="1570037"/>
            <a:ext cx="8001000" cy="1453865"/>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a:xfrm>
            <a:off x="6960394" y="6375400"/>
            <a:ext cx="2133600" cy="365125"/>
          </a:xfrm>
        </p:spPr>
        <p:txBody>
          <a:bodyPr/>
          <a:lstStyle/>
          <a:p>
            <a:fld id="{903FFB06-94E0-41AA-9EA5-2FC111FA609D}" type="slidenum">
              <a:rPr lang="en-US" smtClean="0"/>
              <a:pPr/>
              <a:t>2</a:t>
            </a:fld>
            <a:endParaRPr lang="en-US" dirty="0"/>
          </a:p>
        </p:txBody>
      </p:sp>
      <p:sp>
        <p:nvSpPr>
          <p:cNvPr id="16" name="Rectangle 11"/>
          <p:cNvSpPr>
            <a:spLocks noChangeArrowheads="1"/>
          </p:cNvSpPr>
          <p:nvPr/>
        </p:nvSpPr>
        <p:spPr bwMode="auto">
          <a:xfrm>
            <a:off x="674687" y="1651802"/>
            <a:ext cx="80089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a:spcBef>
                <a:spcPct val="50000"/>
              </a:spcBef>
              <a:buFont typeface="Wingdings" panose="05000000000000000000" pitchFamily="2" charset="2"/>
              <a:buChar char="§"/>
            </a:pPr>
            <a:r>
              <a:rPr kumimoji="1" lang="en-US" altLang="en-US" sz="2400" dirty="0">
                <a:solidFill>
                  <a:srgbClr val="FF0000"/>
                </a:solidFill>
              </a:rPr>
              <a:t>Washington Accord (WA)</a:t>
            </a:r>
            <a:r>
              <a:rPr kumimoji="1" lang="en-US" altLang="en-US" sz="2400" dirty="0">
                <a:solidFill>
                  <a:srgbClr val="FFCC00"/>
                </a:solidFill>
              </a:rPr>
              <a:t>:</a:t>
            </a:r>
            <a:r>
              <a:rPr kumimoji="1" lang="en-US" altLang="en-US" sz="2400" dirty="0"/>
              <a:t> Agreement that establishes equivalence of accredited professional engineering programs of member countries.</a:t>
            </a:r>
            <a:endParaRPr kumimoji="1" lang="en-US" altLang="en-US" sz="2000" dirty="0"/>
          </a:p>
        </p:txBody>
      </p:sp>
      <p:sp>
        <p:nvSpPr>
          <p:cNvPr id="17" name="Rectangle 13"/>
          <p:cNvSpPr>
            <a:spLocks noChangeArrowheads="1"/>
          </p:cNvSpPr>
          <p:nvPr/>
        </p:nvSpPr>
        <p:spPr bwMode="auto">
          <a:xfrm>
            <a:off x="495300" y="3493482"/>
            <a:ext cx="80089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257300" indent="-342900">
              <a:defRPr>
                <a:solidFill>
                  <a:schemeClr val="tx1"/>
                </a:solidFill>
                <a:latin typeface="Arial" panose="020B0604020202020204" pitchFamily="34" charset="0"/>
                <a:cs typeface="Arial" panose="020B0604020202020204" pitchFamily="34" charset="0"/>
              </a:defRPr>
            </a:lvl3pPr>
            <a:lvl4pPr marL="1714500" indent="-342900">
              <a:defRPr>
                <a:solidFill>
                  <a:schemeClr val="tx1"/>
                </a:solidFill>
                <a:latin typeface="Arial" panose="020B0604020202020204" pitchFamily="34" charset="0"/>
                <a:cs typeface="Arial" panose="020B0604020202020204" pitchFamily="34" charset="0"/>
              </a:defRPr>
            </a:lvl4pPr>
            <a:lvl5pPr marL="2171700" indent="-342900">
              <a:defRPr>
                <a:solidFill>
                  <a:schemeClr val="tx1"/>
                </a:solidFill>
                <a:latin typeface="Arial" panose="020B0604020202020204" pitchFamily="34" charset="0"/>
                <a:cs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a:spcBef>
                <a:spcPct val="40000"/>
              </a:spcBef>
              <a:buFont typeface="Wingdings" panose="05000000000000000000" pitchFamily="2" charset="2"/>
              <a:buChar char="§"/>
            </a:pPr>
            <a:r>
              <a:rPr kumimoji="1" lang="en-US" altLang="en-US" sz="2400" dirty="0"/>
              <a:t>Accredited Engineering Graduates are recognized by other signatory countries - </a:t>
            </a:r>
            <a:r>
              <a:rPr kumimoji="1" lang="en-US" altLang="en-US" sz="2400" dirty="0">
                <a:solidFill>
                  <a:srgbClr val="FF0000"/>
                </a:solidFill>
              </a:rPr>
              <a:t>Possible employment as engineers in those countries without further examinations.</a:t>
            </a:r>
          </a:p>
        </p:txBody>
      </p:sp>
    </p:spTree>
    <p:extLst>
      <p:ext uri="{BB962C8B-B14F-4D97-AF65-F5344CB8AC3E}">
        <p14:creationId xmlns:p14="http://schemas.microsoft.com/office/powerpoint/2010/main" val="906537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r>
              <a:rPr lang="en-US" b="1" dirty="0"/>
              <a:t>Washington Accord</a:t>
            </a:r>
            <a:br>
              <a:rPr lang="en-US" b="1" dirty="0"/>
            </a:br>
            <a:endParaRPr lang="en-US" b="1" dirty="0"/>
          </a:p>
        </p:txBody>
      </p:sp>
      <p:sp>
        <p:nvSpPr>
          <p:cNvPr id="7171" name="Rectangle 3"/>
          <p:cNvSpPr>
            <a:spLocks noGrp="1" noChangeArrowheads="1"/>
          </p:cNvSpPr>
          <p:nvPr>
            <p:ph idx="1"/>
          </p:nvPr>
        </p:nvSpPr>
        <p:spPr>
          <a:xfrm>
            <a:off x="566738" y="1570037"/>
            <a:ext cx="8001000" cy="1453865"/>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a:xfrm>
            <a:off x="6960394" y="6375400"/>
            <a:ext cx="2133600" cy="365125"/>
          </a:xfrm>
        </p:spPr>
        <p:txBody>
          <a:bodyPr/>
          <a:lstStyle/>
          <a:p>
            <a:fld id="{903FFB06-94E0-41AA-9EA5-2FC111FA609D}" type="slidenum">
              <a:rPr lang="en-US" smtClean="0"/>
              <a:pPr/>
              <a:t>3</a:t>
            </a:fld>
            <a:endParaRPr lang="en-US" dirty="0"/>
          </a:p>
        </p:txBody>
      </p:sp>
      <p:sp>
        <p:nvSpPr>
          <p:cNvPr id="8" name="Rectangle 4"/>
          <p:cNvSpPr>
            <a:spLocks noChangeArrowheads="1"/>
          </p:cNvSpPr>
          <p:nvPr/>
        </p:nvSpPr>
        <p:spPr bwMode="auto">
          <a:xfrm>
            <a:off x="163513" y="1468438"/>
            <a:ext cx="83343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27063"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109220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500188"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908175"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316163"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773363"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3230563"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687763"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4144963"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buFontTx/>
              <a:buNone/>
            </a:pPr>
            <a:r>
              <a:rPr lang="en-US" altLang="en-US" sz="2800" b="1" dirty="0"/>
              <a:t>Members</a:t>
            </a:r>
          </a:p>
        </p:txBody>
      </p:sp>
      <p:sp>
        <p:nvSpPr>
          <p:cNvPr id="9" name="Rectangle 5"/>
          <p:cNvSpPr>
            <a:spLocks noChangeArrowheads="1"/>
          </p:cNvSpPr>
          <p:nvPr/>
        </p:nvSpPr>
        <p:spPr bwMode="auto">
          <a:xfrm>
            <a:off x="504825" y="2065338"/>
            <a:ext cx="800893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kumimoji="1" lang="en-US" altLang="en-US" sz="2400" dirty="0"/>
              <a:t>Established in 1989, as of 2017, the </a:t>
            </a:r>
            <a:r>
              <a:rPr kumimoji="1" lang="en-US" altLang="en-US" sz="2400" b="1" i="1" u="sng" dirty="0">
                <a:solidFill>
                  <a:srgbClr val="C00000"/>
                </a:solidFill>
              </a:rPr>
              <a:t>full members</a:t>
            </a:r>
            <a:r>
              <a:rPr kumimoji="1" lang="en-US" altLang="en-US" sz="2400" b="1" i="1" dirty="0">
                <a:solidFill>
                  <a:srgbClr val="C00000"/>
                </a:solidFill>
              </a:rPr>
              <a:t> </a:t>
            </a:r>
            <a:r>
              <a:rPr kumimoji="1" lang="en-US" altLang="en-US" sz="2400" dirty="0"/>
              <a:t>of WA: </a:t>
            </a:r>
            <a:r>
              <a:rPr lang="en-US" sz="2400" dirty="0"/>
              <a:t>Australia, Canada, China, Chinese Taipei, Hong Kong, India, Ireland, Japan, Korea, Malaysia, New Zealand, Russia, Singapore, South Africa, Sri Lanka, Turkey, United States, United Kingdom and </a:t>
            </a:r>
            <a:r>
              <a:rPr lang="en-US" sz="2400" b="1" dirty="0"/>
              <a:t>Pakistan </a:t>
            </a:r>
          </a:p>
        </p:txBody>
      </p:sp>
      <p:sp>
        <p:nvSpPr>
          <p:cNvPr id="10" name="Rectangle 6"/>
          <p:cNvSpPr>
            <a:spLocks noChangeArrowheads="1"/>
          </p:cNvSpPr>
          <p:nvPr/>
        </p:nvSpPr>
        <p:spPr bwMode="auto">
          <a:xfrm>
            <a:off x="450850" y="4004330"/>
            <a:ext cx="80089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kumimoji="1" lang="en-US" altLang="en-US" sz="2400" dirty="0"/>
              <a:t>The </a:t>
            </a:r>
            <a:r>
              <a:rPr kumimoji="1" lang="en-US" altLang="en-US" sz="2400" b="1" i="1" u="sng" dirty="0"/>
              <a:t>provisional members</a:t>
            </a:r>
            <a:r>
              <a:rPr kumimoji="1" lang="en-US" altLang="en-US" sz="2400" b="1" i="1" dirty="0"/>
              <a:t> </a:t>
            </a:r>
            <a:r>
              <a:rPr kumimoji="1" lang="en-US" altLang="en-US" sz="2400" dirty="0"/>
              <a:t>of the WA : </a:t>
            </a:r>
            <a:r>
              <a:rPr lang="en-US" sz="2400" dirty="0"/>
              <a:t>Bangladesh, Costa Rica, Mexico, Peru and Philippines</a:t>
            </a:r>
          </a:p>
        </p:txBody>
      </p:sp>
    </p:spTree>
    <p:extLst>
      <p:ext uri="{BB962C8B-B14F-4D97-AF65-F5344CB8AC3E}">
        <p14:creationId xmlns:p14="http://schemas.microsoft.com/office/powerpoint/2010/main" val="614452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r>
              <a:rPr lang="en-US" sz="4000" b="1" dirty="0"/>
              <a:t>Why Outcome Based Education (OBE) ?</a:t>
            </a:r>
            <a:br>
              <a:rPr lang="en-US" b="1" dirty="0"/>
            </a:br>
            <a:endParaRPr lang="en-US" b="1" dirty="0"/>
          </a:p>
        </p:txBody>
      </p:sp>
      <p:sp>
        <p:nvSpPr>
          <p:cNvPr id="7171" name="Rectangle 3"/>
          <p:cNvSpPr>
            <a:spLocks noGrp="1" noChangeArrowheads="1"/>
          </p:cNvSpPr>
          <p:nvPr>
            <p:ph idx="1"/>
          </p:nvPr>
        </p:nvSpPr>
        <p:spPr>
          <a:xfrm>
            <a:off x="566738" y="1570037"/>
            <a:ext cx="8001000" cy="1453865"/>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a:xfrm>
            <a:off x="6960394" y="6375400"/>
            <a:ext cx="2133600" cy="365125"/>
          </a:xfrm>
        </p:spPr>
        <p:txBody>
          <a:bodyPr/>
          <a:lstStyle/>
          <a:p>
            <a:fld id="{903FFB06-94E0-41AA-9EA5-2FC111FA609D}" type="slidenum">
              <a:rPr lang="en-US" smtClean="0"/>
              <a:pPr/>
              <a:t>4</a:t>
            </a:fld>
            <a:endParaRPr lang="en-US" dirty="0"/>
          </a:p>
        </p:txBody>
      </p:sp>
      <p:sp>
        <p:nvSpPr>
          <p:cNvPr id="16" name="Rectangle 11"/>
          <p:cNvSpPr>
            <a:spLocks noChangeArrowheads="1"/>
          </p:cNvSpPr>
          <p:nvPr/>
        </p:nvSpPr>
        <p:spPr bwMode="auto">
          <a:xfrm>
            <a:off x="457200" y="1322487"/>
            <a:ext cx="84582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4625" indent="-174625">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a:lnSpc>
                <a:spcPct val="150000"/>
              </a:lnSpc>
              <a:spcBef>
                <a:spcPct val="50000"/>
              </a:spcBef>
              <a:buFont typeface="Wingdings" panose="05000000000000000000" pitchFamily="2" charset="2"/>
              <a:buChar char="§"/>
            </a:pPr>
            <a:r>
              <a:rPr kumimoji="1" lang="en-US" altLang="en-US" sz="2400" dirty="0"/>
              <a:t>To address mismatches between </a:t>
            </a:r>
            <a:r>
              <a:rPr kumimoji="1" lang="en-US" altLang="en-US" sz="2400" b="1" dirty="0"/>
              <a:t>employers</a:t>
            </a:r>
            <a:r>
              <a:rPr kumimoji="1" lang="en-US" altLang="en-US" sz="2400" dirty="0"/>
              <a:t> and graduates.</a:t>
            </a:r>
          </a:p>
          <a:p>
            <a:pPr marL="342900" indent="-342900" algn="just">
              <a:lnSpc>
                <a:spcPct val="150000"/>
              </a:lnSpc>
              <a:spcBef>
                <a:spcPct val="50000"/>
              </a:spcBef>
              <a:buFont typeface="Wingdings" panose="05000000000000000000" pitchFamily="2" charset="2"/>
              <a:buChar char="§"/>
            </a:pPr>
            <a:r>
              <a:rPr kumimoji="1" lang="en-US" altLang="en-US" sz="2400" dirty="0"/>
              <a:t>Students main concerns are GRADES, Employers are looking for KNOWLEDGE, ATTITUDE and SKILLS.</a:t>
            </a:r>
          </a:p>
          <a:p>
            <a:pPr marL="342900" indent="-342900" algn="just">
              <a:lnSpc>
                <a:spcPct val="150000"/>
              </a:lnSpc>
              <a:spcBef>
                <a:spcPct val="50000"/>
              </a:spcBef>
              <a:buFont typeface="Wingdings" panose="05000000000000000000" pitchFamily="2" charset="2"/>
              <a:buChar char="§"/>
            </a:pPr>
            <a:r>
              <a:rPr kumimoji="1" lang="en-US" altLang="en-US" sz="2400" dirty="0"/>
              <a:t>OBE is a process that involves assessment and evaluation practices in education to reflect the attainment of expected learning outcomes and showing mastery in the program area.</a:t>
            </a:r>
          </a:p>
        </p:txBody>
      </p:sp>
    </p:spTree>
    <p:extLst>
      <p:ext uri="{BB962C8B-B14F-4D97-AF65-F5344CB8AC3E}">
        <p14:creationId xmlns:p14="http://schemas.microsoft.com/office/powerpoint/2010/main" val="3639193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990600"/>
            <a:ext cx="8458200" cy="1371600"/>
          </a:xfrm>
        </p:spPr>
        <p:txBody>
          <a:bodyPr/>
          <a:lstStyle/>
          <a:p>
            <a:r>
              <a:rPr lang="en-US" b="1" dirty="0"/>
              <a:t>OBE Framework </a:t>
            </a:r>
            <a:endParaRPr lang="en-US" b="1" dirty="0">
              <a:solidFill>
                <a:srgbClr val="002060"/>
              </a:solidFill>
            </a:endParaRPr>
          </a:p>
        </p:txBody>
      </p:sp>
      <p:sp>
        <p:nvSpPr>
          <p:cNvPr id="2051" name="Rectangle 3"/>
          <p:cNvSpPr>
            <a:spLocks noGrp="1" noChangeArrowheads="1"/>
          </p:cNvSpPr>
          <p:nvPr>
            <p:ph type="subTitle" idx="1"/>
          </p:nvPr>
        </p:nvSpPr>
        <p:spPr>
          <a:xfrm>
            <a:off x="304800" y="3200400"/>
            <a:ext cx="8763000" cy="2819400"/>
          </a:xfrm>
        </p:spPr>
        <p:txBody>
          <a:bodyPr/>
          <a:lstStyle/>
          <a:p>
            <a:r>
              <a:rPr lang="en-US" sz="2800" b="1" dirty="0">
                <a:solidFill>
                  <a:srgbClr val="002060"/>
                </a:solidFill>
              </a:rPr>
              <a:t>BSE Programme</a:t>
            </a:r>
          </a:p>
        </p:txBody>
      </p:sp>
      <p:cxnSp>
        <p:nvCxnSpPr>
          <p:cNvPr id="4" name="Straight Connector 3"/>
          <p:cNvCxnSpPr/>
          <p:nvPr/>
        </p:nvCxnSpPr>
        <p:spPr>
          <a:xfrm>
            <a:off x="0" y="22098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578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dirty="0"/>
              <a:t>Background</a:t>
            </a:r>
          </a:p>
        </p:txBody>
      </p:sp>
      <p:sp>
        <p:nvSpPr>
          <p:cNvPr id="7171" name="Rectangle 3"/>
          <p:cNvSpPr>
            <a:spLocks noGrp="1" noChangeArrowheads="1"/>
          </p:cNvSpPr>
          <p:nvPr>
            <p:ph idx="1"/>
          </p:nvPr>
        </p:nvSpPr>
        <p:spPr>
          <a:xfrm>
            <a:off x="566738" y="1570037"/>
            <a:ext cx="8001000" cy="1453865"/>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sp>
        <p:nvSpPr>
          <p:cNvPr id="9" name="Rectangle 3"/>
          <p:cNvSpPr txBox="1">
            <a:spLocks noChangeArrowheads="1"/>
          </p:cNvSpPr>
          <p:nvPr/>
        </p:nvSpPr>
        <p:spPr bwMode="auto">
          <a:xfrm>
            <a:off x="533400" y="1447800"/>
            <a:ext cx="8348662" cy="1545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fontAlgn="base">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fontAlgn="base">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fontAlgn="base">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fontAlgn="base">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lvl="0" algn="just">
              <a:buClr>
                <a:srgbClr val="0000FF"/>
              </a:buClr>
              <a:buFont typeface="Wingdings" panose="05000000000000000000" pitchFamily="2" charset="2"/>
              <a:buChar char="v"/>
            </a:pPr>
            <a:r>
              <a:rPr lang="en-US" sz="2400" dirty="0"/>
              <a:t>For OBE system implementation of BSE Program, the University Vision, Program Mission, Program Educational Objectives (PEOs), Program Learning Outcomes (PLOs), Course Learning Outcomes (CLOs) should be mapped.</a:t>
            </a:r>
          </a:p>
          <a:p>
            <a:pPr marL="0" lvl="0" indent="0" algn="just">
              <a:buClr>
                <a:srgbClr val="0000FF"/>
              </a:buClr>
              <a:buNone/>
            </a:pPr>
            <a:endParaRPr lang="en-US" sz="2400" dirty="0"/>
          </a:p>
          <a:p>
            <a:pPr marL="0" lvl="0" indent="0" algn="just">
              <a:buClr>
                <a:srgbClr val="0000FF"/>
              </a:buClr>
              <a:buNone/>
            </a:pPr>
            <a:endParaRPr lang="en-US" sz="2400" dirty="0"/>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a:xfrm>
            <a:off x="6960394" y="6375400"/>
            <a:ext cx="2133600" cy="365125"/>
          </a:xfrm>
        </p:spPr>
        <p:txBody>
          <a:bodyPr/>
          <a:lstStyle/>
          <a:p>
            <a:fld id="{903FFB06-94E0-41AA-9EA5-2FC111FA609D}" type="slidenum">
              <a:rPr lang="en-US" smtClean="0"/>
              <a:pPr/>
              <a:t>6</a:t>
            </a:fld>
            <a:endParaRPr lang="en-US" dirty="0"/>
          </a:p>
        </p:txBody>
      </p:sp>
      <p:sp>
        <p:nvSpPr>
          <p:cNvPr id="2" name="Rounded Rectangle 1"/>
          <p:cNvSpPr/>
          <p:nvPr/>
        </p:nvSpPr>
        <p:spPr>
          <a:xfrm>
            <a:off x="566738" y="3048000"/>
            <a:ext cx="1490663"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University Vision</a:t>
            </a:r>
          </a:p>
        </p:txBody>
      </p:sp>
      <p:sp>
        <p:nvSpPr>
          <p:cNvPr id="12" name="Rounded Rectangle 11"/>
          <p:cNvSpPr/>
          <p:nvPr/>
        </p:nvSpPr>
        <p:spPr>
          <a:xfrm>
            <a:off x="1981200" y="3733800"/>
            <a:ext cx="1490663"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University Mission</a:t>
            </a:r>
          </a:p>
        </p:txBody>
      </p:sp>
      <p:sp>
        <p:nvSpPr>
          <p:cNvPr id="13" name="Rounded Rectangle 12"/>
          <p:cNvSpPr/>
          <p:nvPr/>
        </p:nvSpPr>
        <p:spPr>
          <a:xfrm>
            <a:off x="3471863" y="4382533"/>
            <a:ext cx="1490663" cy="848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 Educational Objectives</a:t>
            </a:r>
          </a:p>
        </p:txBody>
      </p:sp>
      <p:sp>
        <p:nvSpPr>
          <p:cNvPr id="14" name="Rounded Rectangle 13"/>
          <p:cNvSpPr/>
          <p:nvPr/>
        </p:nvSpPr>
        <p:spPr>
          <a:xfrm>
            <a:off x="4943235" y="5270478"/>
            <a:ext cx="1490663" cy="848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 Learning Outcome</a:t>
            </a:r>
          </a:p>
        </p:txBody>
      </p:sp>
      <p:sp>
        <p:nvSpPr>
          <p:cNvPr id="15" name="Rounded Rectangle 14"/>
          <p:cNvSpPr/>
          <p:nvPr/>
        </p:nvSpPr>
        <p:spPr>
          <a:xfrm>
            <a:off x="6524956" y="6013171"/>
            <a:ext cx="1490663" cy="848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Course Learning Outcome</a:t>
            </a:r>
          </a:p>
        </p:txBody>
      </p:sp>
      <p:cxnSp>
        <p:nvCxnSpPr>
          <p:cNvPr id="38" name="Elbow Connector 37"/>
          <p:cNvCxnSpPr>
            <a:endCxn id="12" idx="0"/>
          </p:cNvCxnSpPr>
          <p:nvPr/>
        </p:nvCxnSpPr>
        <p:spPr>
          <a:xfrm>
            <a:off x="2057401" y="3352800"/>
            <a:ext cx="669131" cy="381000"/>
          </a:xfrm>
          <a:prstGeom prst="bentConnector2">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12" idx="3"/>
            <a:endCxn id="13" idx="0"/>
          </p:cNvCxnSpPr>
          <p:nvPr/>
        </p:nvCxnSpPr>
        <p:spPr>
          <a:xfrm>
            <a:off x="3471863" y="4038600"/>
            <a:ext cx="745332" cy="343933"/>
          </a:xfrm>
          <a:prstGeom prst="bentConnector2">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13" idx="3"/>
            <a:endCxn id="14" idx="0"/>
          </p:cNvCxnSpPr>
          <p:nvPr/>
        </p:nvCxnSpPr>
        <p:spPr>
          <a:xfrm>
            <a:off x="4962526" y="4806939"/>
            <a:ext cx="726041" cy="463539"/>
          </a:xfrm>
          <a:prstGeom prst="bentConnector2">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p:cNvCxnSpPr>
            <a:stCxn id="14" idx="3"/>
            <a:endCxn id="15" idx="0"/>
          </p:cNvCxnSpPr>
          <p:nvPr/>
        </p:nvCxnSpPr>
        <p:spPr>
          <a:xfrm>
            <a:off x="6433898" y="5694884"/>
            <a:ext cx="836390" cy="318287"/>
          </a:xfrm>
          <a:prstGeom prst="bentConnector2">
            <a:avLst/>
          </a:prstGeom>
          <a:ln w="317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0" y="129250"/>
            <a:ext cx="9144000" cy="276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fontAlgn="base">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fontAlgn="base">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fontAlgn="base">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fontAlgn="base">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indent="0" algn="just">
              <a:buClr>
                <a:srgbClr val="0000FF"/>
              </a:buClr>
              <a:buNone/>
            </a:pPr>
            <a:r>
              <a:rPr lang="en-US" sz="2800" b="1" u="sng" dirty="0"/>
              <a:t>University Vision</a:t>
            </a:r>
            <a:endParaRPr lang="en-US" sz="2800" u="sng" dirty="0"/>
          </a:p>
          <a:p>
            <a:pPr marL="0" indent="0" algn="just">
              <a:buClr>
                <a:srgbClr val="0000FF"/>
              </a:buClr>
              <a:buNone/>
            </a:pPr>
            <a:r>
              <a:rPr lang="en-GB" sz="2800" dirty="0"/>
              <a:t>To become a knowledge and creativity driven international university that contributes towards development of society.</a:t>
            </a:r>
            <a:endParaRPr lang="en-US" sz="2800" dirty="0"/>
          </a:p>
          <a:p>
            <a:pPr marL="0" indent="0" algn="just">
              <a:buClr>
                <a:srgbClr val="0000FF"/>
              </a:buClr>
              <a:buNone/>
            </a:pPr>
            <a:r>
              <a:rPr lang="en-US" sz="2800" b="1" u="sng" dirty="0"/>
              <a:t>University Mission</a:t>
            </a:r>
            <a:endParaRPr lang="en-US" sz="2800" u="sng" dirty="0"/>
          </a:p>
          <a:p>
            <a:pPr marL="0" indent="0" algn="just">
              <a:buClr>
                <a:srgbClr val="0000FF"/>
              </a:buClr>
              <a:buNone/>
            </a:pPr>
            <a:r>
              <a:rPr lang="en-GB" sz="2800" dirty="0"/>
              <a:t>To ensure academic excellence through deliverance of quality education and applied research in a collegiate environment having strong linkages with industry and international community to meet the societal challenges.</a:t>
            </a:r>
            <a:endParaRPr lang="en-US" sz="2800" dirty="0"/>
          </a:p>
          <a:p>
            <a:pPr marL="0" indent="0" algn="just">
              <a:buClr>
                <a:srgbClr val="0000FF"/>
              </a:buClr>
              <a:buNone/>
            </a:pPr>
            <a:endParaRPr lang="en-US" sz="2800" dirty="0"/>
          </a:p>
          <a:p>
            <a:pPr marL="0" indent="0" algn="just">
              <a:buClr>
                <a:srgbClr val="0000FF"/>
              </a:buClr>
              <a:buNone/>
            </a:pPr>
            <a:endParaRPr lang="en-US" sz="2800" dirty="0"/>
          </a:p>
        </p:txBody>
      </p:sp>
      <p:sp>
        <p:nvSpPr>
          <p:cNvPr id="6" name="Slide Number Placeholder 5"/>
          <p:cNvSpPr>
            <a:spLocks noGrp="1"/>
          </p:cNvSpPr>
          <p:nvPr>
            <p:ph type="sldNum" sz="quarter" idx="12"/>
          </p:nvPr>
        </p:nvSpPr>
        <p:spPr/>
        <p:txBody>
          <a:bodyPr/>
          <a:lstStyle/>
          <a:p>
            <a:fld id="{903FFB06-94E0-41AA-9EA5-2FC111FA609D}" type="slidenum">
              <a:rPr lang="en-US" smtClean="0"/>
              <a:pPr/>
              <a:t>7</a:t>
            </a:fld>
            <a:endParaRPr lang="en-US" dirty="0"/>
          </a:p>
        </p:txBody>
      </p:sp>
    </p:spTree>
    <p:extLst>
      <p:ext uri="{BB962C8B-B14F-4D97-AF65-F5344CB8AC3E}">
        <p14:creationId xmlns:p14="http://schemas.microsoft.com/office/powerpoint/2010/main" val="976332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304800"/>
            <a:ext cx="8229600" cy="1143000"/>
          </a:xfrm>
        </p:spPr>
        <p:txBody>
          <a:bodyPr>
            <a:normAutofit fontScale="90000"/>
          </a:bodyPr>
          <a:lstStyle/>
          <a:p>
            <a:r>
              <a:rPr lang="en-US" b="1" dirty="0"/>
              <a:t>BSE Program Educational Objectives</a:t>
            </a:r>
          </a:p>
        </p:txBody>
      </p:sp>
      <p:sp>
        <p:nvSpPr>
          <p:cNvPr id="7171" name="Rectangle 3"/>
          <p:cNvSpPr>
            <a:spLocks noGrp="1" noChangeArrowheads="1"/>
          </p:cNvSpPr>
          <p:nvPr>
            <p:ph idx="1"/>
          </p:nvPr>
        </p:nvSpPr>
        <p:spPr>
          <a:xfrm>
            <a:off x="566738" y="1676399"/>
            <a:ext cx="8001000" cy="4593941"/>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cxnSp>
        <p:nvCxnSpPr>
          <p:cNvPr id="3" name="Straight Connector 2"/>
          <p:cNvCxnSpPr/>
          <p:nvPr/>
        </p:nvCxnSpPr>
        <p:spPr>
          <a:xfrm>
            <a:off x="0" y="533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8</a:t>
            </a:fld>
            <a:endParaRPr lang="en-US" dirty="0"/>
          </a:p>
        </p:txBody>
      </p:sp>
      <p:sp>
        <p:nvSpPr>
          <p:cNvPr id="7" name="Rectangle 3"/>
          <p:cNvSpPr txBox="1">
            <a:spLocks noChangeArrowheads="1"/>
          </p:cNvSpPr>
          <p:nvPr/>
        </p:nvSpPr>
        <p:spPr bwMode="auto">
          <a:xfrm>
            <a:off x="219076" y="762000"/>
            <a:ext cx="8348662"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fontAlgn="base">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fontAlgn="base">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fontAlgn="base">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fontAlgn="base">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indent="0" algn="just">
              <a:buNone/>
            </a:pPr>
            <a:r>
              <a:rPr lang="en-US" sz="2000" dirty="0"/>
              <a:t>Graduates from Bachelor of Software Engineering program are expected to achieve the following Program Educational Objectives and would possess the ability to:</a:t>
            </a:r>
          </a:p>
          <a:p>
            <a:pPr marL="0" indent="0" algn="just">
              <a:buNone/>
            </a:pPr>
            <a:endParaRPr lang="en-US" sz="1800" dirty="0"/>
          </a:p>
          <a:p>
            <a:pPr marL="0" indent="0" algn="just">
              <a:buNone/>
            </a:pPr>
            <a:r>
              <a:rPr lang="en-US" sz="2000" b="1" u="sng" dirty="0"/>
              <a:t>PEO 1:</a:t>
            </a:r>
          </a:p>
          <a:p>
            <a:pPr marL="0" indent="0" algn="just">
              <a:buNone/>
            </a:pPr>
            <a:r>
              <a:rPr lang="en-US" sz="2000" dirty="0"/>
              <a:t>Graduates should demonstrate competence in applying Software Engineering principles &amp; practices in various phases of software/system development lifecycle in their respective professional career.</a:t>
            </a:r>
            <a:endParaRPr lang="en-US" sz="1800" dirty="0"/>
          </a:p>
          <a:p>
            <a:pPr marL="0" indent="0" algn="just">
              <a:buNone/>
            </a:pPr>
            <a:r>
              <a:rPr lang="en-US" sz="2000" b="1" u="sng" dirty="0"/>
              <a:t>PEO 2: </a:t>
            </a:r>
          </a:p>
          <a:p>
            <a:pPr marL="0" indent="0" algn="just">
              <a:buNone/>
            </a:pPr>
            <a:r>
              <a:rPr lang="en-US" sz="2000" dirty="0"/>
              <a:t>Graduates should demonstrate effective team member or leadership skills with strong managerial skills and a sound sense of social responsibility for the sustainable development of society.</a:t>
            </a:r>
          </a:p>
          <a:p>
            <a:pPr marL="0" indent="0">
              <a:buNone/>
            </a:pPr>
            <a:r>
              <a:rPr lang="en-US" sz="2000" b="1" u="sng" dirty="0"/>
              <a:t>PEO 3: </a:t>
            </a:r>
            <a:endParaRPr lang="en-US" sz="2000" dirty="0"/>
          </a:p>
          <a:p>
            <a:pPr marL="0" indent="0" algn="just">
              <a:buNone/>
            </a:pPr>
            <a:r>
              <a:rPr lang="en-US" sz="2000" dirty="0"/>
              <a:t>Graduates should demonstrate sustained career development and progression through ethical engineering practices, effective communication skills and continuous learning.</a:t>
            </a:r>
          </a:p>
        </p:txBody>
      </p:sp>
    </p:spTree>
    <p:extLst>
      <p:ext uri="{BB962C8B-B14F-4D97-AF65-F5344CB8AC3E}">
        <p14:creationId xmlns:p14="http://schemas.microsoft.com/office/powerpoint/2010/main" val="1124774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52400"/>
            <a:ext cx="8229600" cy="1143000"/>
          </a:xfrm>
        </p:spPr>
        <p:txBody>
          <a:bodyPr/>
          <a:lstStyle/>
          <a:p>
            <a:r>
              <a:rPr lang="en-US" b="1" dirty="0"/>
              <a:t>PLOs (Attributes)</a:t>
            </a:r>
          </a:p>
        </p:txBody>
      </p:sp>
      <p:cxnSp>
        <p:nvCxnSpPr>
          <p:cNvPr id="3" name="Straight Connector 2"/>
          <p:cNvCxnSpPr/>
          <p:nvPr/>
        </p:nvCxnSpPr>
        <p:spPr>
          <a:xfrm>
            <a:off x="0" y="8382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9</a:t>
            </a:fld>
            <a:endParaRPr lang="en-US" dirty="0"/>
          </a:p>
        </p:txBody>
      </p:sp>
      <p:grpSp>
        <p:nvGrpSpPr>
          <p:cNvPr id="10" name="Group 9"/>
          <p:cNvGrpSpPr/>
          <p:nvPr/>
        </p:nvGrpSpPr>
        <p:grpSpPr>
          <a:xfrm>
            <a:off x="723900" y="1020878"/>
            <a:ext cx="7705627" cy="5151322"/>
            <a:chOff x="723900" y="1425494"/>
            <a:chExt cx="7705627" cy="5151322"/>
          </a:xfrm>
        </p:grpSpPr>
        <p:pic>
          <p:nvPicPr>
            <p:cNvPr id="5" name="Picture 4"/>
            <p:cNvPicPr>
              <a:picLocks noChangeAspect="1"/>
            </p:cNvPicPr>
            <p:nvPr/>
          </p:nvPicPr>
          <p:blipFill>
            <a:blip r:embed="rId2"/>
            <a:stretch>
              <a:fillRect/>
            </a:stretch>
          </p:blipFill>
          <p:spPr>
            <a:xfrm>
              <a:off x="723900" y="1425494"/>
              <a:ext cx="7696200" cy="3697549"/>
            </a:xfrm>
            <a:prstGeom prst="rect">
              <a:avLst/>
            </a:prstGeom>
          </p:spPr>
        </p:pic>
        <p:pic>
          <p:nvPicPr>
            <p:cNvPr id="9" name="Picture 8"/>
            <p:cNvPicPr>
              <a:picLocks noChangeAspect="1"/>
            </p:cNvPicPr>
            <p:nvPr/>
          </p:nvPicPr>
          <p:blipFill>
            <a:blip r:embed="rId3"/>
            <a:stretch>
              <a:fillRect/>
            </a:stretch>
          </p:blipFill>
          <p:spPr>
            <a:xfrm>
              <a:off x="733327" y="5031492"/>
              <a:ext cx="7696200" cy="1545324"/>
            </a:xfrm>
            <a:prstGeom prst="rect">
              <a:avLst/>
            </a:prstGeom>
          </p:spPr>
        </p:pic>
      </p:grpSp>
    </p:spTree>
    <p:extLst>
      <p:ext uri="{BB962C8B-B14F-4D97-AF65-F5344CB8AC3E}">
        <p14:creationId xmlns:p14="http://schemas.microsoft.com/office/powerpoint/2010/main" val="89368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03FFB06-94E0-41AA-9EA5-2FC111FA609D}" type="slidenum">
              <a:rPr lang="en-US" smtClean="0"/>
              <a:pPr/>
              <a:t>10</a:t>
            </a:fld>
            <a:endParaRPr lang="en-US" dirty="0"/>
          </a:p>
        </p:txBody>
      </p:sp>
      <p:pic>
        <p:nvPicPr>
          <p:cNvPr id="2" name="Picture 1"/>
          <p:cNvPicPr>
            <a:picLocks noChangeAspect="1"/>
          </p:cNvPicPr>
          <p:nvPr/>
        </p:nvPicPr>
        <p:blipFill>
          <a:blip r:embed="rId2"/>
          <a:stretch>
            <a:fillRect/>
          </a:stretch>
        </p:blipFill>
        <p:spPr>
          <a:xfrm>
            <a:off x="533400" y="0"/>
            <a:ext cx="7801229" cy="2761281"/>
          </a:xfrm>
          <a:prstGeom prst="rect">
            <a:avLst/>
          </a:prstGeom>
        </p:spPr>
      </p:pic>
      <p:pic>
        <p:nvPicPr>
          <p:cNvPr id="7" name="Picture 6"/>
          <p:cNvPicPr>
            <a:picLocks noChangeAspect="1"/>
          </p:cNvPicPr>
          <p:nvPr/>
        </p:nvPicPr>
        <p:blipFill>
          <a:blip r:embed="rId3"/>
          <a:stretch>
            <a:fillRect/>
          </a:stretch>
        </p:blipFill>
        <p:spPr>
          <a:xfrm>
            <a:off x="457200" y="2819400"/>
            <a:ext cx="8077200" cy="3612321"/>
          </a:xfrm>
          <a:prstGeom prst="rect">
            <a:avLst/>
          </a:prstGeom>
        </p:spPr>
      </p:pic>
    </p:spTree>
    <p:extLst>
      <p:ext uri="{BB962C8B-B14F-4D97-AF65-F5344CB8AC3E}">
        <p14:creationId xmlns:p14="http://schemas.microsoft.com/office/powerpoint/2010/main" val="1771634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dirty="0"/>
              <a:t>Design Structure of OBE</a:t>
            </a:r>
          </a:p>
        </p:txBody>
      </p:sp>
      <p:sp>
        <p:nvSpPr>
          <p:cNvPr id="7171" name="Rectangle 3"/>
          <p:cNvSpPr>
            <a:spLocks noGrp="1" noChangeArrowheads="1"/>
          </p:cNvSpPr>
          <p:nvPr>
            <p:ph idx="1"/>
          </p:nvPr>
        </p:nvSpPr>
        <p:spPr>
          <a:xfrm>
            <a:off x="566738" y="1676399"/>
            <a:ext cx="8001000" cy="4593941"/>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11</a:t>
            </a:fld>
            <a:endParaRPr lang="en-US" dirty="0"/>
          </a:p>
        </p:txBody>
      </p:sp>
      <p:pic>
        <p:nvPicPr>
          <p:cNvPr id="2" name="Picture 1"/>
          <p:cNvPicPr>
            <a:picLocks noChangeAspect="1"/>
          </p:cNvPicPr>
          <p:nvPr/>
        </p:nvPicPr>
        <p:blipFill>
          <a:blip r:embed="rId2"/>
          <a:stretch>
            <a:fillRect/>
          </a:stretch>
        </p:blipFill>
        <p:spPr>
          <a:xfrm>
            <a:off x="1012962" y="1571339"/>
            <a:ext cx="7108552" cy="3907875"/>
          </a:xfrm>
          <a:prstGeom prst="rect">
            <a:avLst/>
          </a:prstGeom>
        </p:spPr>
      </p:pic>
      <p:sp>
        <p:nvSpPr>
          <p:cNvPr id="5" name="TextBox 4"/>
          <p:cNvSpPr txBox="1"/>
          <p:nvPr/>
        </p:nvSpPr>
        <p:spPr>
          <a:xfrm>
            <a:off x="1219200" y="5729069"/>
            <a:ext cx="5514651" cy="646331"/>
          </a:xfrm>
          <a:prstGeom prst="rect">
            <a:avLst/>
          </a:prstGeom>
          <a:noFill/>
        </p:spPr>
        <p:txBody>
          <a:bodyPr wrap="none" rtlCol="0">
            <a:spAutoFit/>
          </a:bodyPr>
          <a:lstStyle/>
          <a:p>
            <a:pPr marL="285750" indent="-285750">
              <a:buFont typeface="Wingdings" panose="05000000000000000000" pitchFamily="2" charset="2"/>
              <a:buChar char="§"/>
            </a:pPr>
            <a:r>
              <a:rPr lang="en-US" dirty="0"/>
              <a:t>Inclusion of Complex Engineering Problems</a:t>
            </a:r>
          </a:p>
          <a:p>
            <a:pPr marL="285750" indent="-285750">
              <a:buFont typeface="Wingdings" panose="05000000000000000000" pitchFamily="2" charset="2"/>
              <a:buChar char="§"/>
            </a:pPr>
            <a:r>
              <a:rPr lang="en-US" dirty="0"/>
              <a:t>Open Ended Labs</a:t>
            </a:r>
          </a:p>
        </p:txBody>
      </p:sp>
    </p:spTree>
    <p:extLst>
      <p:ext uri="{BB962C8B-B14F-4D97-AF65-F5344CB8AC3E}">
        <p14:creationId xmlns:p14="http://schemas.microsoft.com/office/powerpoint/2010/main" val="1853370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30327" y="-76200"/>
            <a:ext cx="8785073" cy="1143000"/>
          </a:xfrm>
        </p:spPr>
        <p:txBody>
          <a:bodyPr>
            <a:noAutofit/>
          </a:bodyPr>
          <a:lstStyle/>
          <a:p>
            <a:r>
              <a:rPr lang="en-US" sz="3200" b="1" dirty="0"/>
              <a:t>OBE Learning Domains – Bloom’s Taxonomy</a:t>
            </a:r>
          </a:p>
        </p:txBody>
      </p:sp>
      <p:sp>
        <p:nvSpPr>
          <p:cNvPr id="7171" name="Rectangle 3"/>
          <p:cNvSpPr>
            <a:spLocks noGrp="1" noChangeArrowheads="1"/>
          </p:cNvSpPr>
          <p:nvPr>
            <p:ph idx="1"/>
          </p:nvPr>
        </p:nvSpPr>
        <p:spPr>
          <a:xfrm>
            <a:off x="566738" y="1676399"/>
            <a:ext cx="8001000" cy="4593941"/>
          </a:xfrm>
        </p:spPr>
        <p:txBody>
          <a:bodyPr/>
          <a:lstStyle/>
          <a:p>
            <a:pPr lvl="1" algn="just">
              <a:lnSpc>
                <a:spcPct val="150000"/>
              </a:lnSpc>
              <a:buNone/>
            </a:pPr>
            <a:endParaRPr lang="en-US" sz="2000" dirty="0">
              <a:sym typeface="Wingdings" pitchFamily="2" charset="2"/>
            </a:endParaRPr>
          </a:p>
          <a:p>
            <a:pPr lvl="1" algn="just">
              <a:lnSpc>
                <a:spcPct val="150000"/>
              </a:lnSpc>
              <a:buNone/>
            </a:pPr>
            <a:r>
              <a:rPr lang="en-US" sz="2000" dirty="0">
                <a:sym typeface="Wingdings" pitchFamily="2" charset="2"/>
              </a:rPr>
              <a:t> </a:t>
            </a:r>
          </a:p>
          <a:p>
            <a:pPr lvl="1" algn="just">
              <a:lnSpc>
                <a:spcPct val="150000"/>
              </a:lnSpc>
              <a:buFont typeface="Wingdings" pitchFamily="2" charset="2"/>
              <a:buChar char="v"/>
            </a:pPr>
            <a:endParaRPr lang="en-US" sz="2000" dirty="0">
              <a:sym typeface="Wingdings" pitchFamily="2" charset="2"/>
            </a:endParaRPr>
          </a:p>
        </p:txBody>
      </p:sp>
      <p:cxnSp>
        <p:nvCxnSpPr>
          <p:cNvPr id="3" name="Straight Connector 2"/>
          <p:cNvCxnSpPr/>
          <p:nvPr/>
        </p:nvCxnSpPr>
        <p:spPr>
          <a:xfrm>
            <a:off x="0" y="8382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12</a:t>
            </a:fld>
            <a:endParaRPr lang="en-US" dirty="0"/>
          </a:p>
        </p:txBody>
      </p:sp>
      <p:sp>
        <p:nvSpPr>
          <p:cNvPr id="20" name="Up Arrow 19"/>
          <p:cNvSpPr/>
          <p:nvPr/>
        </p:nvSpPr>
        <p:spPr>
          <a:xfrm>
            <a:off x="4597651" y="2852713"/>
            <a:ext cx="256107" cy="218838"/>
          </a:xfrm>
          <a:prstGeom prst="upArrow">
            <a:avLst/>
          </a:prstGeom>
          <a:solidFill>
            <a:srgbClr val="FFC000"/>
          </a:solidFill>
          <a:ln w="12700" cap="flat" cmpd="sng" algn="ctr">
            <a:solidFill>
              <a:srgbClr val="FFC0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 name="Oval 20"/>
          <p:cNvSpPr/>
          <p:nvPr/>
        </p:nvSpPr>
        <p:spPr>
          <a:xfrm>
            <a:off x="3843651" y="3071551"/>
            <a:ext cx="1802208" cy="1262324"/>
          </a:xfrm>
          <a:prstGeom prst="ellipse">
            <a:avLst/>
          </a:prstGeom>
          <a:gradFill rotWithShape="1">
            <a:gsLst>
              <a:gs pos="0">
                <a:srgbClr val="A5A5A5">
                  <a:satMod val="103000"/>
                  <a:lumMod val="102000"/>
                  <a:tint val="94000"/>
                </a:srgbClr>
              </a:gs>
              <a:gs pos="50000">
                <a:srgbClr val="A5A5A5">
                  <a:satMod val="110000"/>
                  <a:lumMod val="100000"/>
                  <a:shade val="100000"/>
                </a:srgbClr>
              </a:gs>
              <a:gs pos="100000">
                <a:srgbClr val="A5A5A5">
                  <a:lumMod val="99000"/>
                  <a:satMod val="120000"/>
                  <a:shade val="78000"/>
                </a:srgbClr>
              </a:gs>
            </a:gsLst>
            <a:lin ang="5400000" scaled="0"/>
          </a:gradFill>
          <a:ln w="635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Calibri"/>
                <a:ea typeface="+mn-ea"/>
                <a:cs typeface="+mn-cs"/>
              </a:rPr>
              <a:t>LEARNING DOMAINS</a:t>
            </a:r>
          </a:p>
        </p:txBody>
      </p:sp>
      <p:sp>
        <p:nvSpPr>
          <p:cNvPr id="22" name="Oval 21"/>
          <p:cNvSpPr/>
          <p:nvPr/>
        </p:nvSpPr>
        <p:spPr>
          <a:xfrm>
            <a:off x="3733800" y="1895474"/>
            <a:ext cx="2021910" cy="943071"/>
          </a:xfrm>
          <a:prstGeom prst="ellipse">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w="6600">
                  <a:solidFill>
                    <a:srgbClr val="ED7D31"/>
                  </a:solidFill>
                  <a:prstDash val="solid"/>
                </a:ln>
                <a:solidFill>
                  <a:srgbClr val="FFFFFF"/>
                </a:solidFill>
                <a:effectLst>
                  <a:outerShdw dist="38100" dir="2700000" algn="tl" rotWithShape="0">
                    <a:srgbClr val="ED7D31"/>
                  </a:outerShdw>
                </a:effectLst>
                <a:uLnTx/>
                <a:uFillTx/>
                <a:latin typeface="Calibri"/>
                <a:ea typeface="+mn-ea"/>
                <a:cs typeface="+mn-cs"/>
              </a:rPr>
              <a:t>C</a:t>
            </a:r>
            <a:r>
              <a:rPr kumimoji="0" lang="en-US" sz="1800" b="0" i="0" u="none" strike="noStrike" kern="0" cap="none" spc="0" normalizeH="0" baseline="0" noProof="0" dirty="0">
                <a:ln>
                  <a:noFill/>
                </a:ln>
                <a:solidFill>
                  <a:prstClr val="black"/>
                </a:solidFill>
                <a:effectLst/>
                <a:uLnTx/>
                <a:uFillTx/>
                <a:latin typeface="Calibri"/>
                <a:ea typeface="+mn-ea"/>
                <a:cs typeface="+mn-cs"/>
              </a:rPr>
              <a:t>ognitive</a:t>
            </a:r>
          </a:p>
        </p:txBody>
      </p:sp>
      <p:sp>
        <p:nvSpPr>
          <p:cNvPr id="23" name="Left Arrow 22"/>
          <p:cNvSpPr/>
          <p:nvPr/>
        </p:nvSpPr>
        <p:spPr>
          <a:xfrm rot="18000646">
            <a:off x="4212673" y="4328998"/>
            <a:ext cx="321301" cy="240095"/>
          </a:xfrm>
          <a:prstGeom prst="leftArrow">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4" name="Oval 23"/>
          <p:cNvSpPr/>
          <p:nvPr/>
        </p:nvSpPr>
        <p:spPr>
          <a:xfrm>
            <a:off x="4990335" y="4463760"/>
            <a:ext cx="2209800" cy="914400"/>
          </a:xfrm>
          <a:prstGeom prst="ellipse">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w="9525">
                  <a:solidFill>
                    <a:prstClr val="white"/>
                  </a:solidFill>
                  <a:prstDash val="solid"/>
                </a:ln>
                <a:solidFill>
                  <a:prstClr val="white"/>
                </a:solidFill>
                <a:effectLst>
                  <a:outerShdw blurRad="12700" dist="38100" dir="2700000" algn="tl" rotWithShape="0">
                    <a:prstClr val="white">
                      <a:lumMod val="50000"/>
                    </a:prstClr>
                  </a:outerShdw>
                </a:effectLst>
                <a:uLnTx/>
                <a:uFillTx/>
                <a:latin typeface="Calibri"/>
                <a:ea typeface="+mn-ea"/>
                <a:cs typeface="+mn-cs"/>
              </a:rPr>
              <a:t>P</a:t>
            </a:r>
            <a:r>
              <a:rPr kumimoji="0" lang="en-US" sz="1800" b="0" i="0" u="none" strike="noStrike" kern="0" cap="none" spc="0" normalizeH="0" baseline="0" noProof="0" dirty="0">
                <a:ln>
                  <a:noFill/>
                </a:ln>
                <a:solidFill>
                  <a:prstClr val="white"/>
                </a:solidFill>
                <a:effectLst/>
                <a:uLnTx/>
                <a:uFillTx/>
                <a:latin typeface="Calibri"/>
                <a:ea typeface="+mn-ea"/>
                <a:cs typeface="+mn-cs"/>
              </a:rPr>
              <a:t>sychomotor </a:t>
            </a:r>
          </a:p>
        </p:txBody>
      </p:sp>
      <p:sp>
        <p:nvSpPr>
          <p:cNvPr id="25" name="Oval 24"/>
          <p:cNvSpPr/>
          <p:nvPr/>
        </p:nvSpPr>
        <p:spPr>
          <a:xfrm>
            <a:off x="2537030" y="4483706"/>
            <a:ext cx="2209800" cy="914400"/>
          </a:xfrm>
          <a:prstGeom prst="ellipse">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50" normalizeH="0" baseline="0" noProof="0" dirty="0">
                <a:ln w="9525" cmpd="sng">
                  <a:solidFill>
                    <a:srgbClr val="5B9BD5"/>
                  </a:solidFill>
                  <a:prstDash val="solid"/>
                </a:ln>
                <a:solidFill>
                  <a:srgbClr val="70AD47">
                    <a:tint val="1000"/>
                  </a:srgbClr>
                </a:solidFill>
                <a:effectLst>
                  <a:glow rad="38100">
                    <a:srgbClr val="5B9BD5">
                      <a:alpha val="40000"/>
                    </a:srgbClr>
                  </a:glow>
                </a:effectLst>
                <a:uLnTx/>
                <a:uFillTx/>
                <a:latin typeface="Calibri"/>
                <a:ea typeface="+mn-ea"/>
                <a:cs typeface="Times New Roman" pitchFamily="18" charset="0"/>
              </a:rPr>
              <a:t>A</a:t>
            </a:r>
            <a:r>
              <a:rPr kumimoji="0" lang="en-US" sz="1800" b="0" i="0" u="none" strike="noStrike" kern="0" cap="none" spc="0" normalizeH="0" baseline="0" noProof="0" dirty="0">
                <a:ln>
                  <a:noFill/>
                </a:ln>
                <a:solidFill>
                  <a:prstClr val="black"/>
                </a:solidFill>
                <a:effectLst/>
                <a:uLnTx/>
                <a:uFillTx/>
                <a:latin typeface="Calibri"/>
                <a:ea typeface="+mn-ea"/>
                <a:cs typeface="Times New Roman" pitchFamily="18" charset="0"/>
              </a:rPr>
              <a:t>ffective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 </a:t>
            </a:r>
          </a:p>
        </p:txBody>
      </p:sp>
      <p:sp>
        <p:nvSpPr>
          <p:cNvPr id="26" name="TextBox 25"/>
          <p:cNvSpPr txBox="1"/>
          <p:nvPr/>
        </p:nvSpPr>
        <p:spPr>
          <a:xfrm>
            <a:off x="5755710" y="1457222"/>
            <a:ext cx="3167498" cy="923330"/>
          </a:xfrm>
          <a:prstGeom prst="rect">
            <a:avLst/>
          </a:prstGeom>
          <a:noFill/>
          <a:ln>
            <a:solidFill>
              <a:srgbClr val="FFC000">
                <a:lumMod val="60000"/>
                <a:lumOff val="40000"/>
              </a:srgbClr>
            </a:solidFill>
          </a:ln>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Wingdings" pitchFamily="2" charset="2"/>
              <a:buChar char="ü"/>
              <a:tabLst/>
              <a:defRPr/>
            </a:pPr>
            <a:r>
              <a:rPr kumimoji="0" lang="en-GB" sz="1800" b="0" i="0" u="none" strike="noStrike" kern="0" cap="none" spc="0" normalizeH="0" baseline="0" noProof="0" dirty="0">
                <a:ln>
                  <a:noFill/>
                </a:ln>
                <a:solidFill>
                  <a:prstClr val="black"/>
                </a:solidFill>
                <a:effectLst/>
                <a:uLnTx/>
                <a:uFillTx/>
                <a:latin typeface="Calibri"/>
              </a:rPr>
              <a:t>Involving intellectual</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rPr>
              <a:t>      activities</a:t>
            </a:r>
          </a:p>
          <a:p>
            <a:pPr marL="285750" marR="0" lvl="0" indent="-285750" defTabSz="914400" eaLnBrk="1" fontAlgn="auto" latinLnBrk="0" hangingPunct="1">
              <a:lnSpc>
                <a:spcPct val="100000"/>
              </a:lnSpc>
              <a:spcBef>
                <a:spcPts val="0"/>
              </a:spcBef>
              <a:spcAft>
                <a:spcPts val="0"/>
              </a:spcAft>
              <a:buClrTx/>
              <a:buSzTx/>
              <a:buFont typeface="Wingdings" pitchFamily="2" charset="2"/>
              <a:buChar char="ü"/>
              <a:tabLst/>
              <a:defRPr/>
            </a:pPr>
            <a:r>
              <a:rPr kumimoji="0" lang="en-GB" sz="1800" b="0" i="0" u="none" strike="noStrike" kern="0" cap="none" spc="0" normalizeH="0" baseline="0" noProof="0" dirty="0">
                <a:ln>
                  <a:noFill/>
                </a:ln>
                <a:solidFill>
                  <a:prstClr val="black"/>
                </a:solidFill>
                <a:effectLst/>
                <a:uLnTx/>
                <a:uFillTx/>
                <a:latin typeface="Calibri"/>
              </a:rPr>
              <a:t>What the learner knows</a:t>
            </a:r>
          </a:p>
        </p:txBody>
      </p:sp>
      <p:sp>
        <p:nvSpPr>
          <p:cNvPr id="27" name="TextBox 26"/>
          <p:cNvSpPr txBox="1"/>
          <p:nvPr/>
        </p:nvSpPr>
        <p:spPr>
          <a:xfrm>
            <a:off x="5638800" y="3200400"/>
            <a:ext cx="3600650" cy="923330"/>
          </a:xfrm>
          <a:prstGeom prst="rect">
            <a:avLst/>
          </a:prstGeom>
          <a:noFill/>
          <a:ln>
            <a:solidFill>
              <a:srgbClr val="5B9BD5"/>
            </a:solidFill>
          </a:ln>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Wingdings" pitchFamily="2" charset="2"/>
              <a:buChar char="ü"/>
              <a:tabLst/>
              <a:defRPr/>
            </a:pPr>
            <a:r>
              <a:rPr kumimoji="0" lang="en-GB" sz="1800" b="0" i="0" u="none" strike="noStrike" kern="0" cap="none" spc="0" normalizeH="0" baseline="0" noProof="0" dirty="0">
                <a:ln>
                  <a:noFill/>
                </a:ln>
                <a:solidFill>
                  <a:prstClr val="black"/>
                </a:solidFill>
                <a:effectLst/>
                <a:uLnTx/>
                <a:uFillTx/>
                <a:latin typeface="Calibri"/>
              </a:rPr>
              <a:t>Response involving motor and</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rPr>
              <a:t>     psychological components</a:t>
            </a:r>
          </a:p>
          <a:p>
            <a:pPr marL="285750" marR="0" lvl="0" indent="-285750" defTabSz="914400" eaLnBrk="1" fontAlgn="auto" latinLnBrk="0" hangingPunct="1">
              <a:lnSpc>
                <a:spcPct val="100000"/>
              </a:lnSpc>
              <a:spcBef>
                <a:spcPts val="0"/>
              </a:spcBef>
              <a:spcAft>
                <a:spcPts val="0"/>
              </a:spcAft>
              <a:buClrTx/>
              <a:buSzTx/>
              <a:buFont typeface="Wingdings" pitchFamily="2" charset="2"/>
              <a:buChar char="ü"/>
              <a:tabLst/>
              <a:defRPr/>
            </a:pPr>
            <a:r>
              <a:rPr kumimoji="0" lang="en-GB" sz="1800" b="0" i="0" u="none" strike="noStrike" kern="0" cap="none" spc="0" normalizeH="0" baseline="0" noProof="0" dirty="0">
                <a:ln>
                  <a:noFill/>
                </a:ln>
                <a:solidFill>
                  <a:prstClr val="black"/>
                </a:solidFill>
                <a:effectLst/>
                <a:uLnTx/>
                <a:uFillTx/>
                <a:latin typeface="Calibri"/>
              </a:rPr>
              <a:t>What learner able to perform</a:t>
            </a:r>
          </a:p>
        </p:txBody>
      </p:sp>
      <p:sp>
        <p:nvSpPr>
          <p:cNvPr id="28" name="Left Arrow 27"/>
          <p:cNvSpPr/>
          <p:nvPr/>
        </p:nvSpPr>
        <p:spPr>
          <a:xfrm rot="13864800">
            <a:off x="5005540" y="4345073"/>
            <a:ext cx="358109" cy="237374"/>
          </a:xfrm>
          <a:prstGeom prst="leftArrow">
            <a:avLst/>
          </a:prstGeom>
          <a:gradFill rotWithShape="1">
            <a:gsLst>
              <a:gs pos="0">
                <a:srgbClr val="5B9BD5">
                  <a:satMod val="103000"/>
                  <a:lumMod val="102000"/>
                  <a:tint val="94000"/>
                </a:srgbClr>
              </a:gs>
              <a:gs pos="50000">
                <a:srgbClr val="5B9BD5">
                  <a:satMod val="110000"/>
                  <a:lumMod val="100000"/>
                  <a:shade val="100000"/>
                </a:srgbClr>
              </a:gs>
              <a:gs pos="100000">
                <a:srgbClr val="5B9BD5">
                  <a:lumMod val="99000"/>
                  <a:satMod val="120000"/>
                  <a:shade val="78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 name="TextBox 28">
            <a:extLst>
              <a:ext uri="{FF2B5EF4-FFF2-40B4-BE49-F238E27FC236}">
                <a16:creationId xmlns:a16="http://schemas.microsoft.com/office/drawing/2014/main" id="{D7B49F4D-1053-467E-8E29-A9FE916E82DF}"/>
              </a:ext>
            </a:extLst>
          </p:cNvPr>
          <p:cNvSpPr txBox="1"/>
          <p:nvPr/>
        </p:nvSpPr>
        <p:spPr>
          <a:xfrm>
            <a:off x="150287" y="914400"/>
            <a:ext cx="2135713" cy="2031325"/>
          </a:xfrm>
          <a:prstGeom prst="rect">
            <a:avLst/>
          </a:prstGeom>
          <a:noFill/>
        </p:spPr>
        <p:txBody>
          <a:bodyPr wrap="none" rtlCol="0">
            <a:spAutoFit/>
          </a:bodyPr>
          <a:lstStyle/>
          <a:p>
            <a:pPr eaLnBrk="1" fontAlgn="auto" hangingPunct="1">
              <a:spcBef>
                <a:spcPts val="0"/>
              </a:spcBef>
              <a:spcAft>
                <a:spcPts val="0"/>
              </a:spcAft>
            </a:pPr>
            <a:r>
              <a:rPr lang="en-US" b="1" u="sng" dirty="0">
                <a:solidFill>
                  <a:srgbClr val="0070C0"/>
                </a:solidFill>
                <a:latin typeface="Calibri"/>
              </a:rPr>
              <a:t>Cognitive Level</a:t>
            </a:r>
          </a:p>
          <a:p>
            <a:pPr eaLnBrk="1" fontAlgn="auto" hangingPunct="1">
              <a:spcBef>
                <a:spcPts val="0"/>
              </a:spcBef>
              <a:spcAft>
                <a:spcPts val="0"/>
              </a:spcAft>
            </a:pPr>
            <a:r>
              <a:rPr lang="en-US" dirty="0">
                <a:latin typeface="Calibri"/>
              </a:rPr>
              <a:t>Knowledge – C1</a:t>
            </a:r>
          </a:p>
          <a:p>
            <a:pPr eaLnBrk="1" fontAlgn="auto" hangingPunct="1">
              <a:spcBef>
                <a:spcPts val="0"/>
              </a:spcBef>
              <a:spcAft>
                <a:spcPts val="0"/>
              </a:spcAft>
            </a:pPr>
            <a:r>
              <a:rPr lang="en-US" dirty="0">
                <a:latin typeface="Calibri"/>
              </a:rPr>
              <a:t>Comprehension –C2 </a:t>
            </a:r>
          </a:p>
          <a:p>
            <a:pPr eaLnBrk="1" fontAlgn="auto" hangingPunct="1">
              <a:spcBef>
                <a:spcPts val="0"/>
              </a:spcBef>
              <a:spcAft>
                <a:spcPts val="0"/>
              </a:spcAft>
            </a:pPr>
            <a:r>
              <a:rPr lang="en-US" dirty="0">
                <a:latin typeface="Calibri"/>
              </a:rPr>
              <a:t>Application  –C3</a:t>
            </a:r>
          </a:p>
          <a:p>
            <a:pPr eaLnBrk="1" fontAlgn="auto" hangingPunct="1">
              <a:spcBef>
                <a:spcPts val="0"/>
              </a:spcBef>
              <a:spcAft>
                <a:spcPts val="0"/>
              </a:spcAft>
            </a:pPr>
            <a:r>
              <a:rPr lang="en-US" dirty="0">
                <a:latin typeface="Calibri"/>
              </a:rPr>
              <a:t>Analysis –C4</a:t>
            </a:r>
          </a:p>
          <a:p>
            <a:pPr eaLnBrk="1" fontAlgn="auto" hangingPunct="1">
              <a:spcBef>
                <a:spcPts val="0"/>
              </a:spcBef>
              <a:spcAft>
                <a:spcPts val="0"/>
              </a:spcAft>
            </a:pPr>
            <a:r>
              <a:rPr lang="en-US">
                <a:latin typeface="Calibri"/>
              </a:rPr>
              <a:t>Synthesis–C5</a:t>
            </a:r>
            <a:endParaRPr lang="en-US" dirty="0">
              <a:latin typeface="Calibri"/>
            </a:endParaRPr>
          </a:p>
          <a:p>
            <a:pPr eaLnBrk="1" fontAlgn="auto" hangingPunct="1">
              <a:spcBef>
                <a:spcPts val="0"/>
              </a:spcBef>
              <a:spcAft>
                <a:spcPts val="0"/>
              </a:spcAft>
            </a:pPr>
            <a:r>
              <a:rPr lang="en-US">
                <a:latin typeface="Calibri"/>
              </a:rPr>
              <a:t>Evaluation– </a:t>
            </a:r>
            <a:r>
              <a:rPr lang="en-US" dirty="0">
                <a:latin typeface="Calibri"/>
              </a:rPr>
              <a:t>C6</a:t>
            </a:r>
          </a:p>
        </p:txBody>
      </p:sp>
      <p:sp>
        <p:nvSpPr>
          <p:cNvPr id="16" name="TextBox 15">
            <a:extLst>
              <a:ext uri="{FF2B5EF4-FFF2-40B4-BE49-F238E27FC236}">
                <a16:creationId xmlns:a16="http://schemas.microsoft.com/office/drawing/2014/main" id="{D7B49F4D-1053-467E-8E29-A9FE916E82DF}"/>
              </a:ext>
            </a:extLst>
          </p:cNvPr>
          <p:cNvSpPr txBox="1"/>
          <p:nvPr/>
        </p:nvSpPr>
        <p:spPr>
          <a:xfrm>
            <a:off x="38112" y="2873276"/>
            <a:ext cx="2933688" cy="2308324"/>
          </a:xfrm>
          <a:prstGeom prst="rect">
            <a:avLst/>
          </a:prstGeom>
          <a:noFill/>
        </p:spPr>
        <p:txBody>
          <a:bodyPr wrap="none" rtlCol="0">
            <a:spAutoFit/>
          </a:bodyPr>
          <a:lstStyle/>
          <a:p>
            <a:pPr eaLnBrk="1" fontAlgn="auto" hangingPunct="1">
              <a:spcBef>
                <a:spcPts val="0"/>
              </a:spcBef>
              <a:spcAft>
                <a:spcPts val="0"/>
              </a:spcAft>
            </a:pPr>
            <a:r>
              <a:rPr lang="en-US" b="1" u="sng" dirty="0">
                <a:solidFill>
                  <a:srgbClr val="0070C0"/>
                </a:solidFill>
                <a:latin typeface="Calibri"/>
              </a:rPr>
              <a:t>Psychomotor Level</a:t>
            </a:r>
          </a:p>
          <a:p>
            <a:pPr eaLnBrk="1" fontAlgn="auto" hangingPunct="1">
              <a:spcBef>
                <a:spcPts val="0"/>
              </a:spcBef>
              <a:spcAft>
                <a:spcPts val="0"/>
              </a:spcAft>
            </a:pPr>
            <a:r>
              <a:rPr lang="en-US" dirty="0">
                <a:latin typeface="Calibri"/>
              </a:rPr>
              <a:t>Perception – P1</a:t>
            </a:r>
          </a:p>
          <a:p>
            <a:pPr eaLnBrk="1" fontAlgn="auto" hangingPunct="1">
              <a:spcBef>
                <a:spcPts val="0"/>
              </a:spcBef>
              <a:spcAft>
                <a:spcPts val="0"/>
              </a:spcAft>
            </a:pPr>
            <a:r>
              <a:rPr lang="en-US" dirty="0">
                <a:latin typeface="Calibri"/>
              </a:rPr>
              <a:t>Set –P2 </a:t>
            </a:r>
          </a:p>
          <a:p>
            <a:pPr eaLnBrk="1" fontAlgn="auto" hangingPunct="1">
              <a:spcBef>
                <a:spcPts val="0"/>
              </a:spcBef>
              <a:spcAft>
                <a:spcPts val="0"/>
              </a:spcAft>
            </a:pPr>
            <a:r>
              <a:rPr lang="en-US" dirty="0">
                <a:latin typeface="Calibri"/>
              </a:rPr>
              <a:t>Guided Response  –P3</a:t>
            </a:r>
          </a:p>
          <a:p>
            <a:pPr eaLnBrk="1" fontAlgn="auto" hangingPunct="1">
              <a:spcBef>
                <a:spcPts val="0"/>
              </a:spcBef>
              <a:spcAft>
                <a:spcPts val="0"/>
              </a:spcAft>
            </a:pPr>
            <a:r>
              <a:rPr lang="en-US" dirty="0">
                <a:latin typeface="Calibri"/>
              </a:rPr>
              <a:t>Mechanism –P4</a:t>
            </a:r>
          </a:p>
          <a:p>
            <a:pPr eaLnBrk="1" fontAlgn="auto" hangingPunct="1">
              <a:spcBef>
                <a:spcPts val="0"/>
              </a:spcBef>
              <a:spcAft>
                <a:spcPts val="0"/>
              </a:spcAft>
            </a:pPr>
            <a:r>
              <a:rPr lang="en-US" dirty="0">
                <a:latin typeface="Calibri"/>
              </a:rPr>
              <a:t>Complex Overt Response –P5</a:t>
            </a:r>
          </a:p>
          <a:p>
            <a:pPr eaLnBrk="1" fontAlgn="auto" hangingPunct="1">
              <a:spcBef>
                <a:spcPts val="0"/>
              </a:spcBef>
              <a:spcAft>
                <a:spcPts val="0"/>
              </a:spcAft>
            </a:pPr>
            <a:r>
              <a:rPr lang="en-US">
                <a:latin typeface="Calibri"/>
              </a:rPr>
              <a:t>Adaptation </a:t>
            </a:r>
            <a:r>
              <a:rPr lang="en-US" dirty="0">
                <a:latin typeface="Calibri"/>
              </a:rPr>
              <a:t>– P6</a:t>
            </a:r>
          </a:p>
          <a:p>
            <a:pPr eaLnBrk="1" fontAlgn="auto" hangingPunct="1">
              <a:spcBef>
                <a:spcPts val="0"/>
              </a:spcBef>
              <a:spcAft>
                <a:spcPts val="0"/>
              </a:spcAft>
            </a:pPr>
            <a:r>
              <a:rPr lang="en-US">
                <a:latin typeface="Calibri"/>
              </a:rPr>
              <a:t>Orgination </a:t>
            </a:r>
            <a:r>
              <a:rPr lang="en-US" dirty="0">
                <a:latin typeface="Calibri"/>
              </a:rPr>
              <a:t>– P7</a:t>
            </a:r>
          </a:p>
        </p:txBody>
      </p:sp>
      <p:sp>
        <p:nvSpPr>
          <p:cNvPr id="17" name="TextBox 16">
            <a:extLst>
              <a:ext uri="{FF2B5EF4-FFF2-40B4-BE49-F238E27FC236}">
                <a16:creationId xmlns:a16="http://schemas.microsoft.com/office/drawing/2014/main" id="{D7B49F4D-1053-467E-8E29-A9FE916E82DF}"/>
              </a:ext>
            </a:extLst>
          </p:cNvPr>
          <p:cNvSpPr txBox="1"/>
          <p:nvPr/>
        </p:nvSpPr>
        <p:spPr>
          <a:xfrm>
            <a:off x="12543" y="5181600"/>
            <a:ext cx="2135136" cy="2031325"/>
          </a:xfrm>
          <a:prstGeom prst="rect">
            <a:avLst/>
          </a:prstGeom>
          <a:noFill/>
        </p:spPr>
        <p:txBody>
          <a:bodyPr wrap="none" rtlCol="0">
            <a:spAutoFit/>
          </a:bodyPr>
          <a:lstStyle/>
          <a:p>
            <a:pPr eaLnBrk="1" fontAlgn="auto" hangingPunct="1">
              <a:spcBef>
                <a:spcPts val="0"/>
              </a:spcBef>
              <a:spcAft>
                <a:spcPts val="0"/>
              </a:spcAft>
            </a:pPr>
            <a:r>
              <a:rPr lang="en-US" b="1" u="sng" dirty="0">
                <a:solidFill>
                  <a:srgbClr val="0070C0"/>
                </a:solidFill>
                <a:latin typeface="Calibri"/>
              </a:rPr>
              <a:t>Affective  Level</a:t>
            </a:r>
          </a:p>
          <a:p>
            <a:pPr eaLnBrk="1" fontAlgn="auto" hangingPunct="1">
              <a:spcBef>
                <a:spcPts val="0"/>
              </a:spcBef>
              <a:spcAft>
                <a:spcPts val="0"/>
              </a:spcAft>
            </a:pPr>
            <a:r>
              <a:rPr lang="en-US" dirty="0">
                <a:latin typeface="Calibri"/>
              </a:rPr>
              <a:t>Receiving  – A1</a:t>
            </a:r>
          </a:p>
          <a:p>
            <a:pPr eaLnBrk="1" fontAlgn="auto" hangingPunct="1">
              <a:spcBef>
                <a:spcPts val="0"/>
              </a:spcBef>
              <a:spcAft>
                <a:spcPts val="0"/>
              </a:spcAft>
            </a:pPr>
            <a:r>
              <a:rPr lang="en-US" dirty="0">
                <a:latin typeface="Calibri"/>
              </a:rPr>
              <a:t>Responding –A2 </a:t>
            </a:r>
          </a:p>
          <a:p>
            <a:pPr eaLnBrk="1" fontAlgn="auto" hangingPunct="1">
              <a:spcBef>
                <a:spcPts val="0"/>
              </a:spcBef>
              <a:spcAft>
                <a:spcPts val="0"/>
              </a:spcAft>
            </a:pPr>
            <a:r>
              <a:rPr lang="en-US" dirty="0">
                <a:latin typeface="Calibri"/>
              </a:rPr>
              <a:t>Valuing  –A3</a:t>
            </a:r>
          </a:p>
          <a:p>
            <a:pPr eaLnBrk="1" fontAlgn="auto" hangingPunct="1">
              <a:spcBef>
                <a:spcPts val="0"/>
              </a:spcBef>
              <a:spcAft>
                <a:spcPts val="0"/>
              </a:spcAft>
            </a:pPr>
            <a:r>
              <a:rPr lang="en-US">
                <a:latin typeface="Calibri"/>
              </a:rPr>
              <a:t>Organization–A4</a:t>
            </a:r>
            <a:endParaRPr lang="en-US" dirty="0">
              <a:latin typeface="Calibri"/>
            </a:endParaRPr>
          </a:p>
          <a:p>
            <a:pPr eaLnBrk="1" fontAlgn="auto" hangingPunct="1">
              <a:spcBef>
                <a:spcPts val="0"/>
              </a:spcBef>
              <a:spcAft>
                <a:spcPts val="0"/>
              </a:spcAft>
            </a:pPr>
            <a:r>
              <a:rPr lang="en-US">
                <a:latin typeface="Calibri"/>
              </a:rPr>
              <a:t>Characterization </a:t>
            </a:r>
            <a:r>
              <a:rPr lang="en-US" dirty="0">
                <a:latin typeface="Calibri"/>
              </a:rPr>
              <a:t>–A5</a:t>
            </a:r>
          </a:p>
          <a:p>
            <a:pPr eaLnBrk="1" fontAlgn="auto" hangingPunct="1">
              <a:spcBef>
                <a:spcPts val="0"/>
              </a:spcBef>
              <a:spcAft>
                <a:spcPts val="0"/>
              </a:spcAft>
            </a:pPr>
            <a:endParaRPr lang="en-US" dirty="0">
              <a:solidFill>
                <a:srgbClr val="ED7D31">
                  <a:lumMod val="75000"/>
                </a:srgbClr>
              </a:solidFill>
              <a:latin typeface="Calibri"/>
            </a:endParaRPr>
          </a:p>
        </p:txBody>
      </p:sp>
      <p:sp>
        <p:nvSpPr>
          <p:cNvPr id="18" name="TextBox 17"/>
          <p:cNvSpPr txBox="1"/>
          <p:nvPr/>
        </p:nvSpPr>
        <p:spPr>
          <a:xfrm>
            <a:off x="5543350" y="5410200"/>
            <a:ext cx="3600650" cy="1477328"/>
          </a:xfrm>
          <a:prstGeom prst="rect">
            <a:avLst/>
          </a:prstGeom>
          <a:noFill/>
          <a:ln>
            <a:solidFill>
              <a:srgbClr val="FF0000"/>
            </a:solidFill>
          </a:ln>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Wingdings" pitchFamily="2" charset="2"/>
              <a:buChar char="ü"/>
              <a:tabLst/>
              <a:defRPr/>
            </a:pPr>
            <a:r>
              <a:rPr lang="en-GB" dirty="0">
                <a:latin typeface="+mn-lt"/>
              </a:rPr>
              <a:t>the manner in which we deal with things emotionally, such as feelings, values, appreciation, enthusiasms, motivations, and attitudes</a:t>
            </a:r>
            <a:endParaRPr kumimoji="0" lang="en-GB" sz="1800" b="0" i="0" u="none" strike="noStrike" kern="0" cap="none" spc="0" normalizeH="0" baseline="0" noProof="0" dirty="0">
              <a:ln>
                <a:noFill/>
              </a:ln>
              <a:solidFill>
                <a:prstClr val="black"/>
              </a:solidFill>
              <a:effectLst/>
              <a:uLnTx/>
              <a:uFillTx/>
              <a:latin typeface="+mn-lt"/>
            </a:endParaRPr>
          </a:p>
        </p:txBody>
      </p:sp>
    </p:spTree>
    <p:extLst>
      <p:ext uri="{BB962C8B-B14F-4D97-AF65-F5344CB8AC3E}">
        <p14:creationId xmlns:p14="http://schemas.microsoft.com/office/powerpoint/2010/main" val="1127360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a:t>Cognitive Domain</a:t>
            </a:r>
            <a:endParaRPr lang="en-US" b="1" dirty="0"/>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13</a:t>
            </a:fld>
            <a:endParaRPr lang="en-US" dirty="0"/>
          </a:p>
        </p:txBody>
      </p:sp>
      <p:pic>
        <p:nvPicPr>
          <p:cNvPr id="4" name="Picture 3"/>
          <p:cNvPicPr>
            <a:picLocks noChangeAspect="1"/>
          </p:cNvPicPr>
          <p:nvPr/>
        </p:nvPicPr>
        <p:blipFill>
          <a:blip r:embed="rId2"/>
          <a:stretch>
            <a:fillRect/>
          </a:stretch>
        </p:blipFill>
        <p:spPr>
          <a:xfrm>
            <a:off x="990600" y="1449842"/>
            <a:ext cx="7286625" cy="4781550"/>
          </a:xfrm>
          <a:prstGeom prst="rect">
            <a:avLst/>
          </a:prstGeom>
        </p:spPr>
      </p:pic>
    </p:spTree>
    <p:extLst>
      <p:ext uri="{BB962C8B-B14F-4D97-AF65-F5344CB8AC3E}">
        <p14:creationId xmlns:p14="http://schemas.microsoft.com/office/powerpoint/2010/main" val="4176399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a:t>Cognitive Domain</a:t>
            </a:r>
            <a:endParaRPr lang="en-US" b="1" dirty="0"/>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14</a:t>
            </a:fld>
            <a:endParaRPr lang="en-US" dirty="0"/>
          </a:p>
        </p:txBody>
      </p:sp>
      <p:grpSp>
        <p:nvGrpSpPr>
          <p:cNvPr id="7" name="Group 6"/>
          <p:cNvGrpSpPr/>
          <p:nvPr/>
        </p:nvGrpSpPr>
        <p:grpSpPr>
          <a:xfrm>
            <a:off x="934811" y="1449842"/>
            <a:ext cx="7447189" cy="4781550"/>
            <a:chOff x="934811" y="1449842"/>
            <a:chExt cx="7447189" cy="4781550"/>
          </a:xfrm>
        </p:grpSpPr>
        <p:pic>
          <p:nvPicPr>
            <p:cNvPr id="4" name="Picture 3"/>
            <p:cNvPicPr>
              <a:picLocks noChangeAspect="1"/>
            </p:cNvPicPr>
            <p:nvPr/>
          </p:nvPicPr>
          <p:blipFill>
            <a:blip r:embed="rId2"/>
            <a:stretch>
              <a:fillRect/>
            </a:stretch>
          </p:blipFill>
          <p:spPr>
            <a:xfrm>
              <a:off x="990600" y="1449842"/>
              <a:ext cx="7286625" cy="4781550"/>
            </a:xfrm>
            <a:prstGeom prst="rect">
              <a:avLst/>
            </a:prstGeom>
          </p:spPr>
        </p:pic>
        <p:pic>
          <p:nvPicPr>
            <p:cNvPr id="2" name="Picture 1"/>
            <p:cNvPicPr>
              <a:picLocks noChangeAspect="1"/>
            </p:cNvPicPr>
            <p:nvPr/>
          </p:nvPicPr>
          <p:blipFill>
            <a:blip r:embed="rId3"/>
            <a:stretch>
              <a:fillRect/>
            </a:stretch>
          </p:blipFill>
          <p:spPr>
            <a:xfrm>
              <a:off x="934811" y="1743892"/>
              <a:ext cx="7353300" cy="3790950"/>
            </a:xfrm>
            <a:prstGeom prst="rect">
              <a:avLst/>
            </a:prstGeom>
          </p:spPr>
        </p:pic>
        <p:sp>
          <p:nvSpPr>
            <p:cNvPr id="5" name="Rectangle 4"/>
            <p:cNvSpPr/>
            <p:nvPr/>
          </p:nvSpPr>
          <p:spPr>
            <a:xfrm>
              <a:off x="934811" y="5565322"/>
              <a:ext cx="7447189" cy="6660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92240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a:t>Psychomotor Domain</a:t>
            </a:r>
            <a:endParaRPr lang="en-US" b="1" dirty="0"/>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15</a:t>
            </a:fld>
            <a:endParaRPr lang="en-US" dirty="0"/>
          </a:p>
        </p:txBody>
      </p:sp>
      <p:grpSp>
        <p:nvGrpSpPr>
          <p:cNvPr id="8" name="Group 7"/>
          <p:cNvGrpSpPr/>
          <p:nvPr/>
        </p:nvGrpSpPr>
        <p:grpSpPr>
          <a:xfrm>
            <a:off x="877661" y="1371600"/>
            <a:ext cx="7221310" cy="5445580"/>
            <a:chOff x="877661" y="1371600"/>
            <a:chExt cx="7221310" cy="5445580"/>
          </a:xfrm>
        </p:grpSpPr>
        <p:pic>
          <p:nvPicPr>
            <p:cNvPr id="2" name="Picture 1"/>
            <p:cNvPicPr>
              <a:picLocks noChangeAspect="1"/>
            </p:cNvPicPr>
            <p:nvPr/>
          </p:nvPicPr>
          <p:blipFill>
            <a:blip r:embed="rId2"/>
            <a:stretch>
              <a:fillRect/>
            </a:stretch>
          </p:blipFill>
          <p:spPr>
            <a:xfrm>
              <a:off x="879021" y="1371600"/>
              <a:ext cx="7219950" cy="2695575"/>
            </a:xfrm>
            <a:prstGeom prst="rect">
              <a:avLst/>
            </a:prstGeom>
          </p:spPr>
        </p:pic>
        <p:pic>
          <p:nvPicPr>
            <p:cNvPr id="7" name="Picture 6"/>
            <p:cNvPicPr>
              <a:picLocks noChangeAspect="1"/>
            </p:cNvPicPr>
            <p:nvPr/>
          </p:nvPicPr>
          <p:blipFill>
            <a:blip r:embed="rId3"/>
            <a:stretch>
              <a:fillRect/>
            </a:stretch>
          </p:blipFill>
          <p:spPr>
            <a:xfrm>
              <a:off x="877661" y="4007305"/>
              <a:ext cx="7210425" cy="2809875"/>
            </a:xfrm>
            <a:prstGeom prst="rect">
              <a:avLst/>
            </a:prstGeom>
          </p:spPr>
        </p:pic>
      </p:grpSp>
    </p:spTree>
    <p:extLst>
      <p:ext uri="{BB962C8B-B14F-4D97-AF65-F5344CB8AC3E}">
        <p14:creationId xmlns:p14="http://schemas.microsoft.com/office/powerpoint/2010/main" val="1220381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a:t>Psychomotor Domain</a:t>
            </a:r>
            <a:endParaRPr lang="en-US" b="1" dirty="0"/>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16</a:t>
            </a:fld>
            <a:endParaRPr lang="en-US" dirty="0"/>
          </a:p>
        </p:txBody>
      </p:sp>
      <p:pic>
        <p:nvPicPr>
          <p:cNvPr id="2" name="Picture 1"/>
          <p:cNvPicPr>
            <a:picLocks noChangeAspect="1"/>
          </p:cNvPicPr>
          <p:nvPr/>
        </p:nvPicPr>
        <p:blipFill>
          <a:blip r:embed="rId2"/>
          <a:stretch>
            <a:fillRect/>
          </a:stretch>
        </p:blipFill>
        <p:spPr>
          <a:xfrm>
            <a:off x="857250" y="1600200"/>
            <a:ext cx="7219950" cy="2695575"/>
          </a:xfrm>
          <a:prstGeom prst="rect">
            <a:avLst/>
          </a:prstGeom>
        </p:spPr>
      </p:pic>
      <p:pic>
        <p:nvPicPr>
          <p:cNvPr id="4" name="Picture 3"/>
          <p:cNvPicPr>
            <a:picLocks noChangeAspect="1"/>
          </p:cNvPicPr>
          <p:nvPr/>
        </p:nvPicPr>
        <p:blipFill>
          <a:blip r:embed="rId3"/>
          <a:stretch>
            <a:fillRect/>
          </a:stretch>
        </p:blipFill>
        <p:spPr>
          <a:xfrm>
            <a:off x="846364" y="1901146"/>
            <a:ext cx="7248525" cy="3467100"/>
          </a:xfrm>
          <a:prstGeom prst="rect">
            <a:avLst/>
          </a:prstGeom>
        </p:spPr>
      </p:pic>
    </p:spTree>
    <p:extLst>
      <p:ext uri="{BB962C8B-B14F-4D97-AF65-F5344CB8AC3E}">
        <p14:creationId xmlns:p14="http://schemas.microsoft.com/office/powerpoint/2010/main" val="1843130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a:t>Affective Domain</a:t>
            </a:r>
            <a:endParaRPr lang="en-US" b="1" dirty="0"/>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17</a:t>
            </a:fld>
            <a:endParaRPr lang="en-US" dirty="0"/>
          </a:p>
        </p:txBody>
      </p:sp>
      <p:pic>
        <p:nvPicPr>
          <p:cNvPr id="5" name="Picture 4"/>
          <p:cNvPicPr>
            <a:picLocks noChangeAspect="1"/>
          </p:cNvPicPr>
          <p:nvPr/>
        </p:nvPicPr>
        <p:blipFill>
          <a:blip r:embed="rId2"/>
          <a:stretch>
            <a:fillRect/>
          </a:stretch>
        </p:blipFill>
        <p:spPr>
          <a:xfrm>
            <a:off x="942975" y="1727200"/>
            <a:ext cx="7134225" cy="4648200"/>
          </a:xfrm>
          <a:prstGeom prst="rect">
            <a:avLst/>
          </a:prstGeom>
        </p:spPr>
      </p:pic>
    </p:spTree>
    <p:extLst>
      <p:ext uri="{BB962C8B-B14F-4D97-AF65-F5344CB8AC3E}">
        <p14:creationId xmlns:p14="http://schemas.microsoft.com/office/powerpoint/2010/main" val="3611146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52400"/>
            <a:ext cx="8229600" cy="1143000"/>
          </a:xfrm>
        </p:spPr>
        <p:txBody>
          <a:bodyPr>
            <a:noAutofit/>
          </a:bodyPr>
          <a:lstStyle/>
          <a:p>
            <a:r>
              <a:rPr lang="en-US" sz="3200" b="1" dirty="0"/>
              <a:t>Formal method is software engineering</a:t>
            </a:r>
          </a:p>
        </p:txBody>
      </p:sp>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18</a:t>
            </a:fld>
            <a:endParaRPr lang="en-US" dirty="0"/>
          </a:p>
        </p:txBody>
      </p:sp>
      <p:sp>
        <p:nvSpPr>
          <p:cNvPr id="2" name="TextBox 1">
            <a:extLst>
              <a:ext uri="{FF2B5EF4-FFF2-40B4-BE49-F238E27FC236}">
                <a16:creationId xmlns:a16="http://schemas.microsoft.com/office/drawing/2014/main" id="{B018AD85-B34D-4A2C-8F69-2A9F5ADB0234}"/>
              </a:ext>
            </a:extLst>
          </p:cNvPr>
          <p:cNvSpPr txBox="1"/>
          <p:nvPr/>
        </p:nvSpPr>
        <p:spPr>
          <a:xfrm>
            <a:off x="1219200" y="2240281"/>
            <a:ext cx="5943600" cy="3416320"/>
          </a:xfrm>
          <a:prstGeom prst="rect">
            <a:avLst/>
          </a:prstGeom>
          <a:noFill/>
        </p:spPr>
        <p:txBody>
          <a:bodyPr wrap="square" rtlCol="0">
            <a:spAutoFit/>
          </a:bodyPr>
          <a:lstStyle/>
          <a:p>
            <a:pPr marL="0" marR="0" algn="just">
              <a:spcBef>
                <a:spcPts val="0"/>
              </a:spcBef>
              <a:spcAft>
                <a:spcPts val="0"/>
              </a:spcAft>
            </a:pPr>
            <a:r>
              <a:rPr lang="en-US" sz="1800" b="1" dirty="0">
                <a:effectLst/>
                <a:latin typeface="Times New Roman" panose="02020603050405020304" pitchFamily="18" charset="0"/>
                <a:ea typeface="Times New Roman" panose="02020603050405020304" pitchFamily="18" charset="0"/>
              </a:rPr>
              <a:t>Objective</a:t>
            </a:r>
          </a:p>
          <a:p>
            <a:pPr marL="0" marR="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The course provides hands on introduction to software engineering, The purpose of formal method is to be able to construct highly reliable software. The foundations is the precise specification of runtime properties that a software system is expected to satisfy. Formal methods are concerned with the specification that are precise for being stated in the language endowed with formal syntax, semantics and theory. Formality helps specification process at least in two ways.</a:t>
            </a:r>
          </a:p>
          <a:p>
            <a:pPr marL="342900" marR="0" lvl="0" indent="-342900" algn="just">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rPr>
              <a:t>It leads to unambiguous high quality specification</a:t>
            </a:r>
          </a:p>
          <a:p>
            <a:pPr marL="342900" marR="0" lvl="0" indent="-342900" algn="just">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rPr>
              <a:t>It provides bases of automated tool support.</a:t>
            </a:r>
          </a:p>
          <a:p>
            <a:endParaRPr lang="en-US" dirty="0"/>
          </a:p>
        </p:txBody>
      </p:sp>
    </p:spTree>
    <p:extLst>
      <p:ext uri="{BB962C8B-B14F-4D97-AF65-F5344CB8AC3E}">
        <p14:creationId xmlns:p14="http://schemas.microsoft.com/office/powerpoint/2010/main" val="1448543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19</a:t>
            </a:fld>
            <a:endParaRPr lang="en-US" dirty="0"/>
          </a:p>
        </p:txBody>
      </p:sp>
      <p:sp>
        <p:nvSpPr>
          <p:cNvPr id="9" name="Rectangle 2"/>
          <p:cNvSpPr>
            <a:spLocks noGrp="1" noChangeArrowheads="1"/>
          </p:cNvSpPr>
          <p:nvPr>
            <p:ph type="title"/>
          </p:nvPr>
        </p:nvSpPr>
        <p:spPr>
          <a:xfrm>
            <a:off x="457200" y="152400"/>
            <a:ext cx="8229600" cy="1143000"/>
          </a:xfrm>
        </p:spPr>
        <p:txBody>
          <a:bodyPr>
            <a:noAutofit/>
          </a:bodyPr>
          <a:lstStyle/>
          <a:p>
            <a:r>
              <a:rPr lang="en-US" sz="3200" b="1" dirty="0"/>
              <a:t>Formal methods in software engineering</a:t>
            </a:r>
          </a:p>
        </p:txBody>
      </p:sp>
      <p:graphicFrame>
        <p:nvGraphicFramePr>
          <p:cNvPr id="2" name="Table 1">
            <a:extLst>
              <a:ext uri="{FF2B5EF4-FFF2-40B4-BE49-F238E27FC236}">
                <a16:creationId xmlns:a16="http://schemas.microsoft.com/office/drawing/2014/main" id="{C4479FBB-783C-4641-B87F-56101A3A0816}"/>
              </a:ext>
            </a:extLst>
          </p:cNvPr>
          <p:cNvGraphicFramePr>
            <a:graphicFrameLocks noGrp="1"/>
          </p:cNvGraphicFramePr>
          <p:nvPr>
            <p:extLst>
              <p:ext uri="{D42A27DB-BD31-4B8C-83A1-F6EECF244321}">
                <p14:modId xmlns:p14="http://schemas.microsoft.com/office/powerpoint/2010/main" val="2722165259"/>
              </p:ext>
            </p:extLst>
          </p:nvPr>
        </p:nvGraphicFramePr>
        <p:xfrm>
          <a:off x="1589405" y="3223101"/>
          <a:ext cx="5965190" cy="1280160"/>
        </p:xfrm>
        <a:graphic>
          <a:graphicData uri="http://schemas.openxmlformats.org/drawingml/2006/table">
            <a:tbl>
              <a:tblPr firstRow="1" firstCol="1" bandRow="1">
                <a:tableStyleId>{5C22544A-7EE6-4342-B048-85BDC9FD1C3A}</a:tableStyleId>
              </a:tblPr>
              <a:tblGrid>
                <a:gridCol w="581660">
                  <a:extLst>
                    <a:ext uri="{9D8B030D-6E8A-4147-A177-3AD203B41FA5}">
                      <a16:colId xmlns:a16="http://schemas.microsoft.com/office/drawing/2014/main" val="1226938235"/>
                    </a:ext>
                  </a:extLst>
                </a:gridCol>
                <a:gridCol w="4044315">
                  <a:extLst>
                    <a:ext uri="{9D8B030D-6E8A-4147-A177-3AD203B41FA5}">
                      <a16:colId xmlns:a16="http://schemas.microsoft.com/office/drawing/2014/main" val="4165274857"/>
                    </a:ext>
                  </a:extLst>
                </a:gridCol>
                <a:gridCol w="1339215">
                  <a:extLst>
                    <a:ext uri="{9D8B030D-6E8A-4147-A177-3AD203B41FA5}">
                      <a16:colId xmlns:a16="http://schemas.microsoft.com/office/drawing/2014/main" val="4242135608"/>
                    </a:ext>
                  </a:extLst>
                </a:gridCol>
              </a:tblGrid>
              <a:tr h="0">
                <a:tc>
                  <a:txBody>
                    <a:bodyPr/>
                    <a:lstStyle/>
                    <a:p>
                      <a:pPr marL="0" marR="0" algn="ctr">
                        <a:spcBef>
                          <a:spcPts val="0"/>
                        </a:spcBef>
                        <a:spcAft>
                          <a:spcPts val="0"/>
                        </a:spcAft>
                      </a:pPr>
                      <a:r>
                        <a:rPr lang="en-US" sz="1200" cap="small">
                          <a:effectLst/>
                        </a:rPr>
                        <a:t>CLO#</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cap="small">
                          <a:effectLst/>
                        </a:rPr>
                        <a:t>CLO Statement</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cap="small">
                          <a:effectLst/>
                        </a:rPr>
                        <a:t>bloom’s taxonomy code</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10145716"/>
                  </a:ext>
                </a:extLst>
              </a:tr>
              <a:tr h="0">
                <a:tc>
                  <a:txBody>
                    <a:bodyPr/>
                    <a:lstStyle/>
                    <a:p>
                      <a:pPr marL="0" marR="0" algn="just">
                        <a:spcBef>
                          <a:spcPts val="0"/>
                        </a:spcBef>
                        <a:spcAft>
                          <a:spcPts val="0"/>
                        </a:spcAft>
                      </a:pPr>
                      <a:r>
                        <a:rPr lang="en-US" sz="1200" cap="small">
                          <a:effectLst/>
                        </a:rPr>
                        <a:t>CLO 1</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Discuss and write how formal methods help to product high quality software </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cap="small" dirty="0">
                          <a:effectLst/>
                        </a:rPr>
                        <a:t>C1,P1</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62724802"/>
                  </a:ext>
                </a:extLst>
              </a:tr>
              <a:tr h="0">
                <a:tc>
                  <a:txBody>
                    <a:bodyPr/>
                    <a:lstStyle/>
                    <a:p>
                      <a:pPr marL="0" marR="0" algn="just">
                        <a:spcBef>
                          <a:spcPts val="0"/>
                        </a:spcBef>
                        <a:spcAft>
                          <a:spcPts val="0"/>
                        </a:spcAft>
                      </a:pPr>
                      <a:r>
                        <a:rPr lang="en-US" sz="1200" cap="small">
                          <a:effectLst/>
                        </a:rPr>
                        <a:t>CLO 2</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Change  informal specification into formal specification </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cap="small" dirty="0">
                          <a:effectLst/>
                        </a:rPr>
                        <a:t>C3,P2</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47194453"/>
                  </a:ext>
                </a:extLst>
              </a:tr>
              <a:tr h="0">
                <a:tc>
                  <a:txBody>
                    <a:bodyPr/>
                    <a:lstStyle/>
                    <a:p>
                      <a:pPr marL="0" marR="0" algn="just">
                        <a:spcBef>
                          <a:spcPts val="0"/>
                        </a:spcBef>
                        <a:spcAft>
                          <a:spcPts val="0"/>
                        </a:spcAft>
                      </a:pPr>
                      <a:r>
                        <a:rPr lang="en-US" sz="1200" cap="small" dirty="0">
                          <a:effectLst/>
                        </a:rPr>
                        <a:t>CLO 3</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Interpret and evaluate result of analysis</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cap="small" dirty="0">
                          <a:effectLst/>
                        </a:rPr>
                        <a:t>C6,P4</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98607564"/>
                  </a:ext>
                </a:extLst>
              </a:tr>
              <a:tr h="0">
                <a:tc>
                  <a:txBody>
                    <a:bodyPr/>
                    <a:lstStyle/>
                    <a:p>
                      <a:pPr marL="0" marR="0" algn="just">
                        <a:spcBef>
                          <a:spcPts val="0"/>
                        </a:spcBef>
                        <a:spcAft>
                          <a:spcPts val="0"/>
                        </a:spcAft>
                      </a:pPr>
                      <a:r>
                        <a:rPr lang="en-US" sz="1200" cap="small" dirty="0">
                          <a:effectLst/>
                        </a:rPr>
                        <a:t>CLO 4</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Analyze main approached in formal software verification</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cap="small" dirty="0">
                          <a:effectLst/>
                        </a:rPr>
                        <a:t>C4,P2</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74558818"/>
                  </a:ext>
                </a:extLst>
              </a:tr>
            </a:tbl>
          </a:graphicData>
        </a:graphic>
      </p:graphicFrame>
    </p:spTree>
    <p:extLst>
      <p:ext uri="{BB962C8B-B14F-4D97-AF65-F5344CB8AC3E}">
        <p14:creationId xmlns:p14="http://schemas.microsoft.com/office/powerpoint/2010/main" val="2849179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20</a:t>
            </a:fld>
            <a:endParaRPr lang="en-US" dirty="0"/>
          </a:p>
        </p:txBody>
      </p:sp>
      <p:sp>
        <p:nvSpPr>
          <p:cNvPr id="7" name="Rectangle 2"/>
          <p:cNvSpPr txBox="1">
            <a:spLocks noChangeArrowheads="1"/>
          </p:cNvSpPr>
          <p:nvPr/>
        </p:nvSpPr>
        <p:spPr>
          <a:xfrm>
            <a:off x="457200" y="152400"/>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sz="3200" b="1" dirty="0"/>
              <a:t>Formal methods in software engineering</a:t>
            </a:r>
          </a:p>
        </p:txBody>
      </p:sp>
      <p:graphicFrame>
        <p:nvGraphicFramePr>
          <p:cNvPr id="2" name="Table 1">
            <a:extLst>
              <a:ext uri="{FF2B5EF4-FFF2-40B4-BE49-F238E27FC236}">
                <a16:creationId xmlns:a16="http://schemas.microsoft.com/office/drawing/2014/main" id="{FE479764-9CDD-4C70-A245-312D283D751E}"/>
              </a:ext>
            </a:extLst>
          </p:cNvPr>
          <p:cNvGraphicFramePr>
            <a:graphicFrameLocks noGrp="1"/>
          </p:cNvGraphicFramePr>
          <p:nvPr>
            <p:extLst>
              <p:ext uri="{D42A27DB-BD31-4B8C-83A1-F6EECF244321}">
                <p14:modId xmlns:p14="http://schemas.microsoft.com/office/powerpoint/2010/main" val="53706267"/>
              </p:ext>
            </p:extLst>
          </p:nvPr>
        </p:nvGraphicFramePr>
        <p:xfrm>
          <a:off x="1371600" y="1828806"/>
          <a:ext cx="6857999" cy="2506815"/>
        </p:xfrm>
        <a:graphic>
          <a:graphicData uri="http://schemas.openxmlformats.org/drawingml/2006/table">
            <a:tbl>
              <a:tblPr firstRow="1" firstCol="1" bandRow="1">
                <a:tableStyleId>{5C22544A-7EE6-4342-B048-85BDC9FD1C3A}</a:tableStyleId>
              </a:tblPr>
              <a:tblGrid>
                <a:gridCol w="2251671">
                  <a:extLst>
                    <a:ext uri="{9D8B030D-6E8A-4147-A177-3AD203B41FA5}">
                      <a16:colId xmlns:a16="http://schemas.microsoft.com/office/drawing/2014/main" val="1356755384"/>
                    </a:ext>
                  </a:extLst>
                </a:gridCol>
                <a:gridCol w="1151582">
                  <a:extLst>
                    <a:ext uri="{9D8B030D-6E8A-4147-A177-3AD203B41FA5}">
                      <a16:colId xmlns:a16="http://schemas.microsoft.com/office/drawing/2014/main" val="1825178420"/>
                    </a:ext>
                  </a:extLst>
                </a:gridCol>
                <a:gridCol w="1151582">
                  <a:extLst>
                    <a:ext uri="{9D8B030D-6E8A-4147-A177-3AD203B41FA5}">
                      <a16:colId xmlns:a16="http://schemas.microsoft.com/office/drawing/2014/main" val="173532509"/>
                    </a:ext>
                  </a:extLst>
                </a:gridCol>
                <a:gridCol w="1151582">
                  <a:extLst>
                    <a:ext uri="{9D8B030D-6E8A-4147-A177-3AD203B41FA5}">
                      <a16:colId xmlns:a16="http://schemas.microsoft.com/office/drawing/2014/main" val="2961562805"/>
                    </a:ext>
                  </a:extLst>
                </a:gridCol>
                <a:gridCol w="1151582">
                  <a:extLst>
                    <a:ext uri="{9D8B030D-6E8A-4147-A177-3AD203B41FA5}">
                      <a16:colId xmlns:a16="http://schemas.microsoft.com/office/drawing/2014/main" val="1307060487"/>
                    </a:ext>
                  </a:extLst>
                </a:gridCol>
              </a:tblGrid>
              <a:tr h="485190">
                <a:tc rowSpan="2">
                  <a:txBody>
                    <a:bodyPr/>
                    <a:lstStyle/>
                    <a:p>
                      <a:pPr marL="0" marR="0" algn="ctr">
                        <a:spcBef>
                          <a:spcPts val="0"/>
                        </a:spcBef>
                        <a:spcAft>
                          <a:spcPts val="0"/>
                        </a:spcAft>
                      </a:pPr>
                      <a:r>
                        <a:rPr lang="en-US" sz="1000" cap="small">
                          <a:effectLst/>
                        </a:rPr>
                        <a:t>EI</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cap="small">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tc>
                <a:tc gridSpan="3">
                  <a:txBody>
                    <a:bodyPr/>
                    <a:lstStyle/>
                    <a:p>
                      <a:pPr marL="0" marR="0" algn="l">
                        <a:spcBef>
                          <a:spcPts val="0"/>
                        </a:spcBef>
                        <a:spcAft>
                          <a:spcPts val="0"/>
                        </a:spcAft>
                      </a:pPr>
                      <a:r>
                        <a:rPr lang="en-US" sz="1200">
                          <a:effectLst/>
                        </a:rPr>
                        <a:t> </a:t>
                      </a:r>
                      <a:endParaRPr lang="en-US" sz="1200">
                        <a:effectLst/>
                        <a:latin typeface="Times New Roman" panose="02020603050405020304" pitchFamily="18" charset="0"/>
                        <a:ea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9573329"/>
                  </a:ext>
                </a:extLst>
              </a:tr>
              <a:tr h="404325">
                <a:tc vMerge="1">
                  <a:txBody>
                    <a:bodyPr/>
                    <a:lstStyle/>
                    <a:p>
                      <a:endParaRPr lang="en-US"/>
                    </a:p>
                  </a:txBody>
                  <a:tcPr/>
                </a:tc>
                <a:tc>
                  <a:txBody>
                    <a:bodyPr/>
                    <a:lstStyle/>
                    <a:p>
                      <a:pPr marL="0" marR="0" algn="ctr">
                        <a:spcBef>
                          <a:spcPts val="0"/>
                        </a:spcBef>
                        <a:spcAft>
                          <a:spcPts val="0"/>
                        </a:spcAft>
                      </a:pPr>
                      <a:r>
                        <a:rPr lang="en-US" sz="1000" cap="small">
                          <a:effectLst/>
                        </a:rPr>
                        <a:t>CLO 1</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cap="small">
                          <a:effectLst/>
                        </a:rPr>
                        <a:t>CLO 2</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cap="small">
                          <a:effectLst/>
                        </a:rPr>
                        <a:t>CLO 3</a:t>
                      </a:r>
                      <a:endParaRPr lang="en-US"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cap="small">
                          <a:effectLst/>
                        </a:rPr>
                        <a:t>CLO 4</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91789307"/>
                  </a:ext>
                </a:extLst>
              </a:tr>
              <a:tr h="404325">
                <a:tc>
                  <a:txBody>
                    <a:bodyPr/>
                    <a:lstStyle/>
                    <a:p>
                      <a:pPr marL="0" marR="0" algn="l">
                        <a:spcBef>
                          <a:spcPts val="0"/>
                        </a:spcBef>
                        <a:spcAft>
                          <a:spcPts val="0"/>
                        </a:spcAft>
                      </a:pPr>
                      <a:r>
                        <a:rPr lang="en-US" sz="1000">
                          <a:effectLst/>
                        </a:rPr>
                        <a:t>Assignments</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26269047"/>
                  </a:ext>
                </a:extLst>
              </a:tr>
              <a:tr h="404325">
                <a:tc>
                  <a:txBody>
                    <a:bodyPr/>
                    <a:lstStyle/>
                    <a:p>
                      <a:pPr marL="0" marR="0" algn="l">
                        <a:spcBef>
                          <a:spcPts val="0"/>
                        </a:spcBef>
                        <a:spcAft>
                          <a:spcPts val="0"/>
                        </a:spcAft>
                      </a:pPr>
                      <a:r>
                        <a:rPr lang="en-US" sz="1000">
                          <a:effectLst/>
                        </a:rPr>
                        <a:t>Quizzes</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 </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6121381"/>
                  </a:ext>
                </a:extLst>
              </a:tr>
              <a:tr h="404325">
                <a:tc>
                  <a:txBody>
                    <a:bodyPr/>
                    <a:lstStyle/>
                    <a:p>
                      <a:pPr marL="0" marR="0" algn="l">
                        <a:spcBef>
                          <a:spcPts val="0"/>
                        </a:spcBef>
                        <a:spcAft>
                          <a:spcPts val="0"/>
                        </a:spcAft>
                      </a:pPr>
                      <a:r>
                        <a:rPr lang="en-US" sz="1000">
                          <a:effectLst/>
                        </a:rPr>
                        <a:t>Midterm Exam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03399129"/>
                  </a:ext>
                </a:extLst>
              </a:tr>
              <a:tr h="404325">
                <a:tc>
                  <a:txBody>
                    <a:bodyPr/>
                    <a:lstStyle/>
                    <a:p>
                      <a:pPr marL="0" marR="0" algn="l">
                        <a:spcBef>
                          <a:spcPts val="0"/>
                        </a:spcBef>
                        <a:spcAft>
                          <a:spcPts val="0"/>
                        </a:spcAft>
                      </a:pPr>
                      <a:r>
                        <a:rPr lang="en-US" sz="1000">
                          <a:effectLst/>
                        </a:rPr>
                        <a:t>Final Exam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a:effectLst/>
                        </a:rPr>
                        <a:t>x</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000" cap="small" dirty="0">
                          <a:effectLst/>
                        </a:rPr>
                        <a:t>x</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45032710"/>
                  </a:ext>
                </a:extLst>
              </a:tr>
            </a:tbl>
          </a:graphicData>
        </a:graphic>
      </p:graphicFrame>
    </p:spTree>
    <p:extLst>
      <p:ext uri="{BB962C8B-B14F-4D97-AF65-F5344CB8AC3E}">
        <p14:creationId xmlns:p14="http://schemas.microsoft.com/office/powerpoint/2010/main" val="1418302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1295400"/>
            <a:ext cx="914400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903FFB06-94E0-41AA-9EA5-2FC111FA609D}" type="slidenum">
              <a:rPr lang="en-US" smtClean="0"/>
              <a:pPr/>
              <a:t>21</a:t>
            </a:fld>
            <a:endParaRPr lang="en-US" dirty="0"/>
          </a:p>
        </p:txBody>
      </p:sp>
      <p:sp>
        <p:nvSpPr>
          <p:cNvPr id="7" name="Rectangle 2"/>
          <p:cNvSpPr txBox="1">
            <a:spLocks noChangeArrowheads="1"/>
          </p:cNvSpPr>
          <p:nvPr/>
        </p:nvSpPr>
        <p:spPr>
          <a:xfrm>
            <a:off x="457200" y="152400"/>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sz="3200" b="1" dirty="0"/>
              <a:t>FPGA Based System Design</a:t>
            </a:r>
          </a:p>
        </p:txBody>
      </p:sp>
      <p:sp>
        <p:nvSpPr>
          <p:cNvPr id="2" name="Subtitle 3">
            <a:extLst>
              <a:ext uri="{FF2B5EF4-FFF2-40B4-BE49-F238E27FC236}">
                <a16:creationId xmlns:a16="http://schemas.microsoft.com/office/drawing/2014/main" id="{4EE5392B-5368-4441-B181-632E981CDFA3}"/>
              </a:ext>
            </a:extLst>
          </p:cNvPr>
          <p:cNvSpPr txBox="1">
            <a:spLocks/>
          </p:cNvSpPr>
          <p:nvPr/>
        </p:nvSpPr>
        <p:spPr>
          <a:xfrm>
            <a:off x="533400" y="1676400"/>
            <a:ext cx="8229600" cy="3505200"/>
          </a:xfrm>
          <a:prstGeom prst="rect">
            <a:avLst/>
          </a:prstGeom>
        </p:spPr>
        <p:txBody>
          <a:bodyPr/>
          <a:lstStyle/>
          <a:p>
            <a:pPr marL="514350" marR="0" lvl="0" indent="-514350" algn="l" defTabSz="914400" rtl="0" eaLnBrk="1" fontAlgn="auto" latinLnBrk="0" hangingPunct="1">
              <a:lnSpc>
                <a:spcPct val="100000"/>
              </a:lnSpc>
              <a:spcBef>
                <a:spcPct val="20000"/>
              </a:spcBef>
              <a:spcAft>
                <a:spcPts val="0"/>
              </a:spcAft>
              <a:buClr>
                <a:srgbClr val="0000FF"/>
              </a:buClr>
              <a:buSzTx/>
              <a:buFont typeface="+mj-lt"/>
              <a:buAutoNum type="arabicPeriod"/>
              <a:tabLst/>
              <a:defRPr/>
            </a:pPr>
            <a:r>
              <a:rPr kumimoji="0" lang="en-US"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Course Books</a:t>
            </a:r>
          </a:p>
          <a:p>
            <a:pPr marL="971550" lvl="1" indent="-514350">
              <a:spcBef>
                <a:spcPct val="20000"/>
              </a:spcBef>
              <a:buClr>
                <a:srgbClr val="0000FF"/>
              </a:buClr>
            </a:pPr>
            <a:r>
              <a:rPr lang="en-US" sz="2000" dirty="0">
                <a:latin typeface="Arial" pitchFamily="34" charset="0"/>
                <a:cs typeface="Arial" pitchFamily="34" charset="0"/>
              </a:rPr>
              <a:t>Jonathan Jacky. The way of Z</a:t>
            </a:r>
          </a:p>
          <a:p>
            <a:pPr marL="514350" indent="-514350">
              <a:spcBef>
                <a:spcPct val="20000"/>
              </a:spcBef>
              <a:buClr>
                <a:srgbClr val="0000FF"/>
              </a:buClr>
              <a:buFont typeface="+mj-lt"/>
              <a:buAutoNum type="arabicPeriod"/>
            </a:pPr>
            <a:r>
              <a:rPr lang="en-US" sz="2400">
                <a:latin typeface="Arial" pitchFamily="34" charset="0"/>
                <a:cs typeface="Arial" pitchFamily="34" charset="0"/>
              </a:rPr>
              <a:t>Reference Books</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2827598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31099</TotalTime>
  <Words>832</Words>
  <Application>Microsoft Office PowerPoint</Application>
  <PresentationFormat>On-screen Show (4:3)</PresentationFormat>
  <Paragraphs>176</Paragraphs>
  <Slides>21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Times New Roman</vt:lpstr>
      <vt:lpstr>Verdana</vt:lpstr>
      <vt:lpstr>Wingdings</vt:lpstr>
      <vt:lpstr>Office Theme</vt:lpstr>
      <vt:lpstr>Welcome to Spring 2021</vt:lpstr>
      <vt:lpstr>Washington Accord </vt:lpstr>
      <vt:lpstr>Washington Accord </vt:lpstr>
      <vt:lpstr>Why Outcome Based Education (OBE) ? </vt:lpstr>
      <vt:lpstr>OBE Framework </vt:lpstr>
      <vt:lpstr>Background</vt:lpstr>
      <vt:lpstr>PowerPoint Presentation</vt:lpstr>
      <vt:lpstr>BSE Program Educational Objectives</vt:lpstr>
      <vt:lpstr>PLOs (Attributes)</vt:lpstr>
      <vt:lpstr>PowerPoint Presentation</vt:lpstr>
      <vt:lpstr>Design Structure of OBE</vt:lpstr>
      <vt:lpstr>OBE Learning Domains – Bloom’s Taxonomy</vt:lpstr>
      <vt:lpstr>Cognitive Domain</vt:lpstr>
      <vt:lpstr>Cognitive Domain</vt:lpstr>
      <vt:lpstr>Psychomotor Domain</vt:lpstr>
      <vt:lpstr>Psychomotor Domain</vt:lpstr>
      <vt:lpstr>Affective Domain</vt:lpstr>
      <vt:lpstr>Formal method is software engineering</vt:lpstr>
      <vt:lpstr>Formal methods in software engineering</vt:lpstr>
      <vt:lpstr>PowerPoint Presentation</vt:lpstr>
      <vt:lpstr>PowerPoint Presentation</vt:lpstr>
    </vt:vector>
  </TitlesOfParts>
  <Company>bimcs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 Item : 16</dc:title>
  <dc:creator>Jehanzeb</dc:creator>
  <cp:lastModifiedBy>faiz ul haque zeya</cp:lastModifiedBy>
  <cp:revision>243</cp:revision>
  <dcterms:created xsi:type="dcterms:W3CDTF">2011-07-19T05:06:05Z</dcterms:created>
  <dcterms:modified xsi:type="dcterms:W3CDTF">2021-03-04T03:27:03Z</dcterms:modified>
</cp:coreProperties>
</file>